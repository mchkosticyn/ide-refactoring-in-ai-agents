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  <p:sldId id="293" r:id="rId64"/>
    <p:sldId id="294" r:id="rId65"/>
    <p:sldId id="295" r:id="rId66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Relationship Id="rId64" Type="http://schemas.openxmlformats.org/officeDocument/2006/relationships/slide" Target="slides/slide38.xml"/><Relationship Id="rId65" Type="http://schemas.openxmlformats.org/officeDocument/2006/relationships/slide" Target="slides/slide39.xml"/><Relationship Id="rId66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Оргкомитет: эксперта упомянуть допустимо и уместно.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Каркас для всех разборов. Одни и те же аспекты и метрики для человека и агентов. Не обсуждаем: RAG; «зачем агент, если Shift+F6» – Q&amp;A.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Примеры поводов – с митинга оргкомитета. Ручной способ есть (IDE), но долгий. Переход: берём небольшой реальный кейс, чтобы посчитать, а не рассуждать.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Связка с «Зачем»: тестовый DSL вашего проекта устроен так же – пара хелперов, сотни вызовов, правило на дисциплине. См. demo-detekt.md.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Только цифры. Числа посчитаны на pre-PR коммите a4ec32a2.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Бейзлайн. Проверить при записи: как IDEA показывает конфликт Rename в занятое имя и что делает по «Continue»; подставляет ли Change Signature значение в вызов без точки (BracesOnIfStatementsSpec.kt:2212).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движок останавливает и показывает конфликт. Это то, что будем искать у агентов.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Только три термина. LSP, PSI, MCP – по ходу. Стартовый контекст как метрика опирается на это определение.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Цифры прогона 2026-09-29 – перезаписать по факту записи. Промпт: описание PR, см. demo-detekt.md.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справился с основным: сам понял, что старые lint надо править до переименования, обошёл двойник. Промах – там, где имя не выглядит как вызов метода. Возврат к терминам: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плюса честно – последний вернётся в таблице как ниша.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Вывод-переход: промах молчаливый, сборка зелёная, 53 хода и $4 – нужен инструмент, который видит символы, а не строки.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 и permalink'и – research/agent-prompts-terminal.md. Не утверждать: что bypass-блок опубликован Anthropic (только issues #88475, #90599); что модели «переобучены». Это инструкция агента, а не выбор модели: та же модель в другом агенте тулы вызывает.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Полурекламный слайд: факты без эпитетов. Согласовать с компанией, что показывать из панели.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понимает язык; агент спрашивает его, где символ используется, и просит переименовать. Подробности после.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Первый подход, где есть понятие символа.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– лучше, чем молча применить. Текст ошибки модель прочитать может; проблема в том, что это выбор сервера, а не правило протокола, и продолжить после отказа нечем.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Уровень протокола, источники – research/lsp-limitations.md. Оговорка: что сервер делает внутри ограничений – своё у каждого (clangd, gopls отказывают; rust-analyzer помечает; Kotlin LSP отказал нам). Наблюдение «2 → 79 ссылок» – иллюстрация. Вывод-переход: символы видит, оба вызова без точки нашёл; но операция одна – rename,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Переписать по факту записи. Метрики – рядом с человеком и Claude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«Что / как»: агент решает, что переименовать и как поступить с конфликтом; движок делает работу и гарантирует результат. Рассматриваем только IntelliJ.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Минусы – список фактов, без «но зато».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 Граница – сказать самому.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 (RenameJavaMethodProcessor, advancedResolve). На кейсе – конфликт объявления.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текстом: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Три подхода – в разных углах: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закрывает вопрос «сколько стоят описания тулов».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Вывод следует из сравнения карточек. Перепроверить «включён по умолчанию с 2025.2».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 фразе на тезис. Третий – призыв к действию.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Backup-слайд для Q&amp;A.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>
                <a:solidFill>
                  <a:srgbClr val="F6C26B"/>
                </a:solidFill>
                <a:latin typeface="Golos Text"/>
              </a:rPr>
              <a:t>Эксперт доклада: Максим – TODO фамилия, роль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Вместе делали инструменты рефакторинга в Veai и демо для этого доклада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1">
                <a:solidFill>
                  <a:srgbClr val="FFFFFF"/>
                </a:solidFill>
                <a:latin typeface="Golos Text"/>
              </a:rPr>
              <a:t>Что такое рефакторинг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Зачем это QA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Кейс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Человек в IDE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Термины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6692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3749039" cy="1325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1920240"/>
            <a:ext cx="3749039" cy="1325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2: применить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429000"/>
            <a:ext cx="7827264" cy="12801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ПО ЧЕМУ СУДИМ КАЖДЫЙ ПРОХОД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Результат: найдены все места · правки только по делу · поведение сохранено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Цена: время · стоимость · ходы · токены · стартовый контекст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260604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Миграции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Selenium → Playwright, JUnit 4 → 5, TestNG → JUnit. Тысячи вызовов, десятки файлов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234440"/>
            <a:ext cx="260604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Структура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Spaghetti → PageObject; одна большая фикстура → композиция; аудит и переписывание по его итогам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234440"/>
            <a:ext cx="260604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Тестовый API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Хелперы, DSL, базовые классы тестов. Меняется контракт, которым написаны все тесты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" y="3429000"/>
            <a:ext cx="8229600" cy="7772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ПОЧЕМУ БОЛЬНО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Сотни мест; часть связей не выглядит как вызов; зелёные тесты – не доказательство, что поведение то же: меняется сам тестовый код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34340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Хочется отдать агенту. Первый опыт обычно разочаровывает – разберём, почему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Кейс: detekt, PR #7873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430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B8B8C8"/>
                </a:solidFill>
                <a:latin typeface="Golos Text"/>
              </a:rPr>
              <a:t>detekt – статический анализатор Kotlin. detekt-test – тестовый DSL, которым авторы правил пишут спеки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645920"/>
            <a:ext cx="8229600" cy="1325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B8B8C8"/>
                </a:solidFill>
                <a:latin typeface="Golos Text"/>
              </a:rPr>
              <a:t>RuleExtensions.kt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C9B8FF"/>
                </a:solidFill>
                <a:latin typeface="Menlo"/>
              </a:rPr>
              <a:t>fun Rule.compileAndLint(content, compilerResources)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B8B8C8"/>
                </a:solidFill>
                <a:latin typeface="Menlo"/>
              </a:rPr>
              <a:t>    // под флагом CI компилирует сниппет, потом линтит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C9B8FF"/>
                </a:solidFill>
                <a:latin typeface="Menlo"/>
              </a:rPr>
              <a:t>fun Rule.lint(content, compilerResources)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B8B8C8"/>
                </a:solidFill>
                <a:latin typeface="Menlo"/>
              </a:rPr>
              <a:t>    // только линтит: для сниппетов, которые не компилируются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108960"/>
            <a:ext cx="8229600" cy="1600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ЗАДАЧА АВТОРА PR (2025-02)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FFFFFF"/>
                </a:solidFill>
                <a:latin typeface="Golos Text"/>
              </a:rPr>
              <a:t>«rename compileAndLint to lint so the function is always the same AND if you … doesn't want to compile the snippet … you can set .lint(code, compile = false)»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B8B8C8"/>
                </a:solidFill>
                <a:latin typeface="Golos Text"/>
              </a:rPr>
              <a:t>Реальный открытый проект, реальный PR. Можно повторить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Кейс: масштаб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196596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Golos Text"/>
              </a:rPr>
              <a:t>1428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вызовов compileAndLint в 131 файле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42032" y="1280160"/>
            <a:ext cx="196596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C9B8FF"/>
                </a:solidFill>
                <a:latin typeface="Golos Text"/>
              </a:rPr>
              <a:t>78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вызовов старого lint в 17 файлах – им нужен compile = false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6008" y="1280160"/>
            <a:ext cx="196596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B8B8C8"/>
                </a:solidFill>
                <a:latin typeface="Golos Text"/>
              </a:rPr>
              <a:t>36</a:t>
            </a:r>
          </a:p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вызовов lint(ktFile) – перегрузка, не трогать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9984" y="1280160"/>
            <a:ext cx="196596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B8B8C8"/>
                </a:solidFill>
                <a:latin typeface="Golos Text"/>
              </a:rPr>
              <a:t>66</a:t>
            </a:r>
          </a:p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вызовов FormattingRule.lint – другая функция с тем же именем, не трогать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93192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Задача – переименование. Всё интересное – в этих 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Человек в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IntelliJ IDEA. Инструменты IDE: Change Signature, Rename, Find Usages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 (ставка × время)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221992"/>
            <a:ext cx="2651760" cy="248716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 (78 мест)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Слить тела вручную: одна функция, if (compile &amp;&amp; …)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Человек в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325880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325880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200">
                <a:solidFill>
                  <a:srgbClr val="FFFFFF"/>
                </a:solidFill>
                <a:latin typeface="Golos Text"/>
              </a:rPr>
              <a:t>  Движок: все 78 вызовов, включая два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313432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313432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200">
                <a:solidFill>
                  <a:srgbClr val="FFFFFF"/>
                </a:solidFill>
                <a:latin typeface="Golos Text"/>
              </a:rPr>
              <a:t>  Только вызовы этого символа; FormattingRule.lint и lint(ktFile) не тронуты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3300984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3300984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200">
                <a:solidFill>
                  <a:srgbClr val="FFFFFF"/>
                </a:solidFill>
                <a:latin typeface="Golos Text"/>
              </a:rPr>
              <a:t>  Конфликт показан до применения; compile = false подставлен явно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34340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Время: TODO · Стоимость: TODO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Ключевые термины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ИИ-агент = модель + контекст + инструменты; работает циклом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1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Подход 2: LSP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Подход 3: движок IDE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Сравнение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Claude Code, Opus. Тот же промпт – описание PR. Титры: агент, модель, дата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Токены: 64k out · 3,7M cache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325880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325880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200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313432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313432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200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3300984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3300984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200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 – промах молчаливый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34340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Проблема не в модели, а в инструментах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существует. Так устроено большинство 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Тул «правка фрагмента» – удалить / добавить / заменить; список мест – из поиска,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Не требует настройки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Любой язык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Работает на некомпилирующемся коде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Есть в любом агенте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Имя ≠ символ: одноимённая FormattingRule.lint, комментарий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Символ ≠ имя: вызов без точки, неявный receiver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Шум: частые идентификаторы дают сотни вхождений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Правка не проверяет, что меняет; N мест – N операций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ПОЛНОТА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Пропуски: символ без ожидаемой строки – вызов без точки, алиас, неявный receiver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Ложные попадания: строка без символа – одноимённый метод другого типа, комментарий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34440"/>
            <a:ext cx="402336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КОРРЕКТНОСТЬ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Правка не знает, что меняет: символ, строку или комментарий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N мест – N независимых операций; «прошло» всегда, даже если заменило не то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749039"/>
            <a:ext cx="8229600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150" b="0" i="0">
                <a:solidFill>
                  <a:srgbClr val="C9B8FF"/>
                </a:solidFill>
                <a:latin typeface="Menlo"/>
              </a:rPr>
              <a:t>grep -rn '\.lint('  → 180 строк.   lint("fun f() { $code }")  – не найдено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Оба провала – из одной причины: подстрока не равна символу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84124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Codex CLI – системный промпт</a:t>
            </a:r>
          </a:p>
          <a:p>
            <a:pPr algn="l"/>
            <a:r>
              <a:rPr sz="1150" b="0" i="1">
                <a:solidFill>
                  <a:srgbClr val="FFFFFF"/>
                </a:solidFill>
                <a:latin typeface="Golos Text"/>
              </a:rPr>
              <a:t>«prefer using rg … Do not use apply_patch … when scripting is more efficient (such as search and replacing a string across a codebase)»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121408"/>
            <a:ext cx="8229600" cy="84124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Claude Code – режим bypass / auto</a:t>
            </a:r>
          </a:p>
          <a:p>
            <a:pPr algn="l"/>
            <a:r>
              <a:rPr sz="1150" b="0" i="1">
                <a:solidFill>
                  <a:srgbClr val="FFFFFF"/>
                </a:solidFill>
                <a:latin typeface="Golos Text"/>
              </a:rPr>
              <a:t>«make file changes with sed, heredocs, or short scripts, rather than using the dedicated Read, Edit, or Write tools»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054096"/>
            <a:ext cx="8229600" cy="84124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OpenCode – тул Edit</a:t>
            </a:r>
          </a:p>
          <a:p>
            <a:pPr algn="l"/>
            <a:r>
              <a:rPr sz="1150" b="0" i="1">
                <a:solidFill>
                  <a:srgbClr val="FFFFFF"/>
                </a:solidFill>
                <a:latin typeface="Golos Text"/>
              </a:rPr>
              <a:t>«Use replaceAll … if you want to rename a variable»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" y="4023360"/>
            <a:ext cx="822960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LSP / IDE-rename есть у Copilot CLI, JetBrains Junie, Serena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Смещение есть и у моделей: доля правильных вызовов тулов у Claude ниже примерно на 10 п.п. (бенчмарк Veai) – TODO согласовать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Veai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Дальше – тот же кейс, тот же промпт, та же модель; меняем только набор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926080"/>
            <a:ext cx="822960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скриншот панели тулов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Конфигурация 2: текст + LSP, рефакторинг выключен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Конфигурация 3: текст + рефакторинг, LSP выключен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Стартовый контекст каждой – на слайдах демо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93C47D"/>
                </a:solidFill>
                <a:latin typeface="Golos Text"/>
              </a:rPr>
              <a:t>Подход 1: текстовый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1">
                <a:solidFill>
                  <a:srgbClr val="FFFFFF"/>
                </a:solidFill>
                <a:latin typeface="Golos Text"/>
              </a:rPr>
              <a:t>Подход 2: LSP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Подход 3: движок IDE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Сравнение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Veai: LSP включён, рефакторинг выключен. Сервер: JetBrains Kotlin LSP. Титры: версия, дата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Rename по протоколу – отказ: «already declared»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языка: отдельный процесс понимает язык, клиент спрашивает его по стандарту. Один сервер – один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знает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Один протокол для всех языков: rust-analyzer, gopls, pyright, Kotlin LSP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325880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325880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200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313432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313432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F6C26B"/>
                </a:solidFill>
                <a:latin typeface="Golos Text"/>
              </a:rPr>
              <a:t>?</a:t>
            </a:r>
            <a:r>
              <a:rPr sz="1200">
                <a:solidFill>
                  <a:srgbClr val="FFFFFF"/>
                </a:solidFill>
                <a:latin typeface="Golos Text"/>
              </a:rPr>
              <a:t>  По факту записи: правит ли агент по списку текстом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3300984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3300984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F6C26B"/>
                </a:solidFill>
                <a:latin typeface="Golos Text"/>
              </a:rPr>
              <a:t>?</a:t>
            </a:r>
            <a:r>
              <a:rPr sz="1200">
                <a:solidFill>
                  <a:srgbClr val="FFFFFF"/>
                </a:solidFill>
                <a:latin typeface="Golos Text"/>
              </a:rPr>
              <a:t>  По факту записи. Rename через протокол отказал: «Function 'lint' is already declared»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34340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Заполнить по факту записи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Ограничения протокола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FFFFFF"/>
                </a:solidFill>
                <a:latin typeface="Golos Text"/>
              </a:rPr>
              <a:t>1. Операции без параметров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Golos Text"/>
              </a:rPr>
              <a:t>Один семантический рефакторинг – rename (позиция + имя). Остальное – code actions, которые предлагает сервер; передать «в какой модуль», «на какую сигнатуру» нечем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18872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FFFFFF"/>
                </a:solidFill>
                <a:latin typeface="Golos Text"/>
              </a:rPr>
              <a:t>2. Модель и файлы в разных процессах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Golos Text"/>
              </a:rPr>
              <a:t>Сервер владеет моделью, клиент – файлами; о правках агента сервер узнаёт через уведомления. Сигнала «индекс актуален» нет; полноту references протокол не обещает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6974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FFFFFF"/>
                </a:solidFill>
                <a:latin typeface="Golos Text"/>
              </a:rPr>
              <a:t>3. Один сервер – один язык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Golos Text"/>
              </a:rPr>
              <a:t>Ссылки из другого языка и из конфигурации недоступны; механизма композиции серверов в протоколе нет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6974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FFFFFF"/>
                </a:solidFill>
                <a:latin typeface="Golos Text"/>
              </a:rPr>
              <a:t>4. Конфликты – на усмотрение сервера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Golos Text"/>
              </a:rPr>
              <a:t>Протокол не обязывает о них сообщать и не задаёт форму: ошибка строкой, молчаливое применение или пометка на правке. Параметра «применить несмотря на конфликт» нет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0624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Автор тула не может обещать модели то, что протокол не гарантирует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93C47D"/>
                </a:solidFill>
                <a:latin typeface="Golos Text"/>
              </a:rPr>
              <a:t>Подход 1: текстовый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93C47D"/>
                </a:solidFill>
                <a:latin typeface="Golos Text"/>
              </a:rPr>
              <a:t>Подход 2: LSP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1">
                <a:solidFill>
                  <a:srgbClr val="FFFFFF"/>
                </a:solidFill>
                <a:latin typeface="Golos Text"/>
              </a:rPr>
              <a:t>Подход 3: движок IDE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Сравнение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Veai: рефакторинг включён, LSP выключен. Та же модель, тот же промпт. Титры: агент, модель, дата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Тул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Тул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Применение; отчёт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325880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325880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F6C26B"/>
                </a:solidFill>
                <a:latin typeface="Golos Text"/>
              </a:rPr>
              <a:t>?</a:t>
            </a:r>
            <a:r>
              <a:rPr sz="1200">
                <a:solidFill>
                  <a:srgbClr val="FFFFFF"/>
                </a:solidFill>
                <a:latin typeface="Golos Text"/>
              </a:rPr>
              <a:t>  Ожидание: все 78, включая вызовы без точки – по факту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313432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313432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F6C26B"/>
                </a:solidFill>
                <a:latin typeface="Golos Text"/>
              </a:rPr>
              <a:t>?</a:t>
            </a:r>
            <a:r>
              <a:rPr sz="1200">
                <a:solidFill>
                  <a:srgbClr val="FFFFFF"/>
                </a:solidFill>
                <a:latin typeface="Golos Text"/>
              </a:rPr>
              <a:t>  Ожидание: FormattingRule.lint и lint(ktFile) не тронуты – по факту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3300984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3300984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F6C26B"/>
                </a:solidFill>
                <a:latin typeface="Golos Text"/>
              </a:rPr>
              <a:t>?</a:t>
            </a:r>
            <a:r>
              <a:rPr sz="1200">
                <a:solidFill>
                  <a:srgbClr val="FFFFFF"/>
                </a:solidFill>
                <a:latin typeface="Golos Text"/>
              </a:rPr>
              <a:t>  Ожидание: конфликт до применения, compile = false подставлен – по факту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34340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Та же модель, тот же промпт, другие тулы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 решает «что», детерминированный инструмент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719072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194560"/>
            <a:ext cx="4023360" cy="21488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94560"/>
            <a:ext cx="4023360" cy="21488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Rule.compileAndLint  1558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40740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Находит все ссылки, включая другие языки и конфигурацию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Конфликты до правки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Проверяет, что правка не изменит поведение; список конфликтов до применения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Атомарность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Либо всё, либо ничего.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Архитектурные изменения – не рефакторинг в смысле движка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ОГРАНИЧЕНИЕ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ДО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A9999"/>
                </a:solidFill>
                <a:latin typeface="Menlo"/>
              </a:rPr>
              <a:t>rule.lint(code)  – неразличимы; 78 вызовов молча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639312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617720"/>
            <a:ext cx="782726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C9B8FF"/>
                </a:solidFill>
                <a:latin typeface="Golos Text"/>
              </a:rPr>
              <a:t>Конфликт до применения: «функция lint уже объявлена». Текст применил и промолчал; LSP отказал строкой; движок показал, что именно конфликтует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Как транзакция в БД: либо все правки, либо ни одной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Не бывает «переименовано в 130 файлах из 133»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93C47D"/>
                </a:solidFill>
                <a:latin typeface="Golos Text"/>
              </a:rPr>
              <a:t>Подход 1: текстовый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93C47D"/>
                </a:solidFill>
                <a:latin typeface="Golos Text"/>
              </a:rPr>
              <a:t>Подход 2: LSP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93C47D"/>
                </a:solidFill>
                <a:latin typeface="Golos Text"/>
              </a:rPr>
              <a:t>Подход 3: движок IDE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1">
                <a:solidFill>
                  <a:srgbClr val="FFFFFF"/>
                </a:solidFill>
                <a:latin typeface="Golos Text"/>
              </a:rPr>
              <a:t>Сравнение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Человек в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565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0136" y="123444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3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65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0136" y="1691640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2317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121408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0136" y="2121408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F6C26B"/>
                </a:solidFill>
                <a:latin typeface="Golos Text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317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551176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0565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молча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0136" y="2551176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F6C26B"/>
                </a:solidFill>
                <a:latin typeface="Golos Text"/>
              </a:rPr>
              <a:t>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980944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980944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0565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0136" y="2980944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317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410712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0565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0136" y="3410712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840479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3 операции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0565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0136" y="3840479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2317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270248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0565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0136" y="4270248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2317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1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Встроен и включён по умолчанию с версии 2025.2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Из рефакторингов – один тул: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Extract Method, Change Signature, Inline –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Тулы рефакторинга IntelliJ, доступные агенту по MCP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6C26B"/>
                </a:solidFill>
                <a:latin typeface="Golos Text"/>
              </a:rPr>
              <a:t>TODO: список тулов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1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Регрессионные тесты как фиксация поведения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Тесты фиксируют поведение до рефакторинга; прогон после подтверждает, что поведение не изменилось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Автоматическая проверяемость обязательна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Тесты, линтеры, компиляция – особенно при текстовых правках, где агент ошибается молча. В кейсе сборка была зелёной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Дополнительно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Как отдать движок агенту: четыре принципа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Адресация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 оффсеты и строки, а сигнатура и стабильный идентификатор символа. Отдельный тул поиска возвращает кандидатов с контекстом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42032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Гранулярность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Набор тулов по видам рефакторинга с параметрами. Описание тула – промпт: когда применять, что ожидать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6008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preview → apply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Сначала «что произойдёт» структурой: места, конфликты. Потом применение. Три состояния: применено / конфликт / устарело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9984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Ошибки как промпт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Текст ошибки читает модель: что не так, где, из-за чего. «Refactoring failed» не даёт следующего шага; «символ неоднозначен, кандидаты: …» – даёт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