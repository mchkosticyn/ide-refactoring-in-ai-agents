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67" r:id="rId1"/>
    <p:sldMasterId id="2147483768" r:id="rId2"/>
    <p:sldMasterId id="2147483769" r:id="rId3"/>
  </p:sldMasterIdLst>
  <p:notesMasterIdLst>
    <p:notesMasterId r:id="rId34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26"/>
    <p:sldId id="264" r:id="rId25"/>
    <p:sldId id="265" r:id="rId24"/>
    <p:sldId id="266" r:id="rId23"/>
    <p:sldId id="267" r:id="rId22"/>
    <p:sldId id="268" r:id="rId21"/>
    <p:sldId id="269" r:id="rId20"/>
    <p:sldId id="270" r:id="rId19"/>
    <p:sldId id="271" r:id="rId18"/>
    <p:sldId id="272" r:id="rId17"/>
    <p:sldId id="273" r:id="rId16"/>
    <p:sldId id="274" r:id="rId15"/>
    <p:sldId id="275" r:id="rId14"/>
    <p:sldId id="276" r:id="rId13"/>
    <p:sldId id="277" r:id="rId12"/>
    <p:sldId id="278" r:id="rId11"/>
    <p:sldId id="279" r:id="rId10"/>
    <p:sldId id="280" r:id="rId9"/>
    <p:sldId id="281" r:id="rId8"/>
    <p:sldId id="282" r:id="rId7"/>
    <p:sldId id="283" r:id="rId6"/>
    <p:sldId id="284" r:id="rId5"/>
    <p:sldId id="285" r:id="rId4"/>
    <p:sldId id="286" r:id="rId57"/>
    <p:sldId id="287" r:id="rId58"/>
    <p:sldId id="288" r:id="rId59"/>
    <p:sldId id="289" r:id="rId60"/>
    <p:sldId id="290" r:id="rId61"/>
    <p:sldId id="291" r:id="rId62"/>
    <p:sldId id="292" r:id="rId63"/>
    <p:sldId id="293" r:id="rId64"/>
    <p:sldId id="294" r:id="rId65"/>
    <p:sldId id="295" r:id="rId66"/>
    <p:sldId id="296" r:id="rId67"/>
    <p:sldId id="297" r:id="rId68"/>
  </p:sldIdLst>
  <p:sldSz cx="9144000" cy="5143500" type="screen16x9"/>
  <p:notesSz cx="6858000" cy="9144000"/>
  <p:embeddedFontLst>
    <p:embeddedFont>
      <p:font typeface="Archivo" pitchFamily="2" charset="0"/>
      <p:regular r:id="rId35"/>
      <p:bold r:id="rId36"/>
      <p:italic r:id="rId37"/>
      <p:boldItalic r:id="rId38"/>
    </p:embeddedFont>
    <p:embeddedFont>
      <p:font typeface="Archivo Light" pitchFamily="2" charset="0"/>
      <p:regular r:id="rId39"/>
      <p:bold r:id="rId40"/>
      <p:italic r:id="rId41"/>
      <p:boldItalic r:id="rId42"/>
    </p:embeddedFont>
    <p:embeddedFont>
      <p:font typeface="Archivo SemiBold" pitchFamily="2" charset="0"/>
      <p:regular r:id="rId43"/>
      <p:bold r:id="rId44"/>
      <p:italic r:id="rId45"/>
      <p:boldItalic r:id="rId46"/>
    </p:embeddedFont>
    <p:embeddedFont>
      <p:font typeface="Golos Text" panose="020B0503020202020204" pitchFamily="34" charset="0"/>
      <p:regular r:id="rId47"/>
      <p:bold r:id="rId48"/>
    </p:embeddedFont>
    <p:embeddedFont>
      <p:font typeface="Golos Text Medium" panose="020B0503020202020204" pitchFamily="34" charset="0"/>
      <p:regular r:id="rId49"/>
      <p:bold r:id="rId50"/>
    </p:embeddedFont>
    <p:embeddedFont>
      <p:font typeface="Golos Text SemiBold" panose="020B0503020202020204" pitchFamily="34" charset="0"/>
      <p:regular r:id="rId51"/>
      <p:bold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9E6048C-C7D9-4681-8BCE-A63DFE67F063}">
  <a:tblStyle styleId="{19E6048C-C7D9-4681-8BCE-A63DFE67F06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85"/>
    <p:restoredTop sz="94691"/>
  </p:normalViewPr>
  <p:slideViewPr>
    <p:cSldViewPr snapToGrid="0">
      <p:cViewPr varScale="1">
        <p:scale>
          <a:sx n="285" d="100"/>
          <a:sy n="285" d="100"/>
        </p:scale>
        <p:origin x="832" y="1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30.xml"/><Relationship Id="rId5" Type="http://schemas.openxmlformats.org/officeDocument/2006/relationships/slide" Target="slides/slide29.xml"/><Relationship Id="rId6" Type="http://schemas.openxmlformats.org/officeDocument/2006/relationships/slide" Target="slides/slide28.xml"/><Relationship Id="rId7" Type="http://schemas.openxmlformats.org/officeDocument/2006/relationships/slide" Target="slides/slide27.xml"/><Relationship Id="rId8" Type="http://schemas.openxmlformats.org/officeDocument/2006/relationships/slide" Target="slides/slide26.xml"/><Relationship Id="rId9" Type="http://schemas.openxmlformats.org/officeDocument/2006/relationships/slide" Target="slides/slide25.xml"/><Relationship Id="rId10" Type="http://schemas.openxmlformats.org/officeDocument/2006/relationships/slide" Target="slides/slide24.xml"/><Relationship Id="rId11" Type="http://schemas.openxmlformats.org/officeDocument/2006/relationships/slide" Target="slides/slide23.xml"/><Relationship Id="rId12" Type="http://schemas.openxmlformats.org/officeDocument/2006/relationships/slide" Target="slides/slide22.xml"/><Relationship Id="rId13" Type="http://schemas.openxmlformats.org/officeDocument/2006/relationships/slide" Target="slides/slide21.xml"/><Relationship Id="rId14" Type="http://schemas.openxmlformats.org/officeDocument/2006/relationships/slide" Target="slides/slide20.xml"/><Relationship Id="rId15" Type="http://schemas.openxmlformats.org/officeDocument/2006/relationships/slide" Target="slides/slide19.xml"/><Relationship Id="rId16" Type="http://schemas.openxmlformats.org/officeDocument/2006/relationships/slide" Target="slides/slide18.xml"/><Relationship Id="rId17" Type="http://schemas.openxmlformats.org/officeDocument/2006/relationships/slide" Target="slides/slide17.xml"/><Relationship Id="rId18" Type="http://schemas.openxmlformats.org/officeDocument/2006/relationships/slide" Target="slides/slide16.xml"/><Relationship Id="rId19" Type="http://schemas.openxmlformats.org/officeDocument/2006/relationships/slide" Target="slides/slide15.xml"/><Relationship Id="rId20" Type="http://schemas.openxmlformats.org/officeDocument/2006/relationships/slide" Target="slides/slide14.xml"/><Relationship Id="rId21" Type="http://schemas.openxmlformats.org/officeDocument/2006/relationships/slide" Target="slides/slide13.xml"/><Relationship Id="rId22" Type="http://schemas.openxmlformats.org/officeDocument/2006/relationships/slide" Target="slides/slide12.xml"/><Relationship Id="rId23" Type="http://schemas.openxmlformats.org/officeDocument/2006/relationships/slide" Target="slides/slide11.xml"/><Relationship Id="rId24" Type="http://schemas.openxmlformats.org/officeDocument/2006/relationships/slide" Target="slides/slide10.xml"/><Relationship Id="rId25" Type="http://schemas.openxmlformats.org/officeDocument/2006/relationships/slide" Target="slides/slide9.xml"/><Relationship Id="rId26" Type="http://schemas.openxmlformats.org/officeDocument/2006/relationships/slide" Target="slides/slide8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notesMaster" Target="notesMasters/notesMaster1.xml"/><Relationship Id="rId35" Type="http://schemas.openxmlformats.org/officeDocument/2006/relationships/font" Target="fonts/font1.fntdata"/><Relationship Id="rId36" Type="http://schemas.openxmlformats.org/officeDocument/2006/relationships/font" Target="fonts/font2.fntdata"/><Relationship Id="rId37" Type="http://schemas.openxmlformats.org/officeDocument/2006/relationships/font" Target="fonts/font3.fntdata"/><Relationship Id="rId38" Type="http://schemas.openxmlformats.org/officeDocument/2006/relationships/font" Target="fonts/font4.fntdata"/><Relationship Id="rId39" Type="http://schemas.openxmlformats.org/officeDocument/2006/relationships/font" Target="fonts/font5.fntdata"/><Relationship Id="rId40" Type="http://schemas.openxmlformats.org/officeDocument/2006/relationships/font" Target="fonts/font6.fntdata"/><Relationship Id="rId41" Type="http://schemas.openxmlformats.org/officeDocument/2006/relationships/font" Target="fonts/font7.fntdata"/><Relationship Id="rId42" Type="http://schemas.openxmlformats.org/officeDocument/2006/relationships/font" Target="fonts/font8.fntdata"/><Relationship Id="rId43" Type="http://schemas.openxmlformats.org/officeDocument/2006/relationships/font" Target="fonts/font9.fntdata"/><Relationship Id="rId44" Type="http://schemas.openxmlformats.org/officeDocument/2006/relationships/font" Target="fonts/font10.fntdata"/><Relationship Id="rId45" Type="http://schemas.openxmlformats.org/officeDocument/2006/relationships/font" Target="fonts/font11.fntdata"/><Relationship Id="rId46" Type="http://schemas.openxmlformats.org/officeDocument/2006/relationships/font" Target="fonts/font12.fntdata"/><Relationship Id="rId47" Type="http://schemas.openxmlformats.org/officeDocument/2006/relationships/font" Target="fonts/font13.fntdata"/><Relationship Id="rId48" Type="http://schemas.openxmlformats.org/officeDocument/2006/relationships/font" Target="fonts/font14.fntdata"/><Relationship Id="rId49" Type="http://schemas.openxmlformats.org/officeDocument/2006/relationships/font" Target="fonts/font15.fntdata"/><Relationship Id="rId50" Type="http://schemas.openxmlformats.org/officeDocument/2006/relationships/font" Target="fonts/font16.fntdata"/><Relationship Id="rId51" Type="http://schemas.openxmlformats.org/officeDocument/2006/relationships/font" Target="fonts/font17.fntdata"/><Relationship Id="rId52" Type="http://schemas.openxmlformats.org/officeDocument/2006/relationships/font" Target="fonts/font18.fntdata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Relationship Id="rId57" Type="http://schemas.openxmlformats.org/officeDocument/2006/relationships/slide" Target="slides/slide31.xml"/><Relationship Id="rId58" Type="http://schemas.openxmlformats.org/officeDocument/2006/relationships/slide" Target="slides/slide32.xml"/><Relationship Id="rId59" Type="http://schemas.openxmlformats.org/officeDocument/2006/relationships/slide" Target="slides/slide33.xml"/><Relationship Id="rId60" Type="http://schemas.openxmlformats.org/officeDocument/2006/relationships/slide" Target="slides/slide34.xml"/><Relationship Id="rId61" Type="http://schemas.openxmlformats.org/officeDocument/2006/relationships/slide" Target="slides/slide35.xml"/><Relationship Id="rId62" Type="http://schemas.openxmlformats.org/officeDocument/2006/relationships/slide" Target="slides/slide36.xml"/><Relationship Id="rId63" Type="http://schemas.openxmlformats.org/officeDocument/2006/relationships/slide" Target="slides/slide37.xml"/><Relationship Id="rId64" Type="http://schemas.openxmlformats.org/officeDocument/2006/relationships/slide" Target="slides/slide38.xml"/><Relationship Id="rId65" Type="http://schemas.openxmlformats.org/officeDocument/2006/relationships/slide" Target="slides/slide39.xml"/><Relationship Id="rId66" Type="http://schemas.openxmlformats.org/officeDocument/2006/relationships/slide" Target="slides/slide40.xml"/><Relationship Id="rId67" Type="http://schemas.openxmlformats.org/officeDocument/2006/relationships/slide" Target="slides/slide41.xml"/><Relationship Id="rId68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Каждый проход дальше разбираем одинаково: найдены ли все места, только ли нужные правки, сохранено ли поведение – и цена: время, стоимость, ходы, токены, стартовый контекст.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Ловушки не называем – всплывут в разборах. Тестовый DSL вашего проекта устроен так же: пара хелперов, сотни вызовов, правило на дисциплине.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Rename в занятое имя – IDE останавливает и показывает конфликт. Это то, что будем искать у агентов. Время и стоимость – по ускоренной записи с таймером. Порядок величины подтверждает история PR: оба коммита автора сделаны за 20 минут 3 января 2025 (11:12 и 11:32); при ставке $60/ч это около $30.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Агент правильно выбрал порядок: сначала старые lint, потом rename; двойник в другом модуле обошёл. Промах – там, где имя не выглядит как вызов метода. Инструменты агента – поиск по тексту и правка текста.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из прогонов 2026-10-10: в 4 из 5 агент тронул IndentationSpec.kt – заменил import compileAndLint на import lint; после этого subject.lint(code) в файле вызывает Rule.lint вместо FormattingRule.lint – текст не изменился, функция другая, сборка зелёная. TODO: подтвердить в IDE (Go to Declaration). Вызов без точки lint("fun f() { $code }") – вторая ловушка того же рода: в прогоне 29.09 пропущен, в прогонах 10.10 найден. Вывод: нужен инструмент, который видит функции и их вызовы, а не строки.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Пауза после подхода. Таблица растёт по ходу доклада: после каждого подхода – колонка.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Перед видео – одна фраза: LSP – сервер, который резолвит символы языка; агент спрашивает его, где символ используется, и просит переименовать.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Rename отказал в нашем прогоне – лучше, чем применить без предупреждения. Но это выбор сервера, а не правило протокола, и продолжить после отказа нечем. Из пилота AgentConnect (август 2026): LSP точнее grep, но полнота у обоих около 0,66 – LSP не гарантия, что найдено всё.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Минусы – уровень протокола. Переименование – единственный запрос рефакторинга, которому клиент передаёт параметры (textDocument/rename); extract, inline, move бывают только как code actions: сервер сам предлагает список в точке курсора, передать имя или модуль нечем. Перенос, смена сигнатуры, удаление – в протоколе нет.  Что сервер делает внутри ограничений – своё у каждого: clangd и gopls отказывают, rust-analyzer помечает правку, Kotlin LSP отказал нам. Вывод: символы видит, оба вызова без точки нашёл; но операция одна, конфликт как повезёт, один язык. Нужен движок.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Пауза после подхода. После движка добавится четвёртая колонка.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Агент решает, что переименовать и как поступить с конфликтом; движок ищет ссылки, проверяет конфликт, применяет. Рассматриваем только IntelliJ.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Полнота и корректность – далее по слайду на каждую. Атомарность: либо всё, либо ничего – не бывает «переименовано в 130 файлах из 133»; если код изменился между поиском и применением, движок не применяет правку и просит повторить поиск («There were changes in code after usages have been found»). Архитектурные изменения – не рефакторинг в смысле движка; это оговорка, не минус.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Скриншот: IntelliJ, PSI Viewer на BracesOnIfStatementsSpec.kt:2213. Дерево – то, что видит и парсер; ссылка – то, чего нет у текста: узел знает, к какому объявлению относится.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Ссылка – слой поверх дерева, поэтому плагин может добавить связь туда, где компилятор её не видит. Индексы – почему обход быстрый.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Механизм для метода: копия выражения-вызова, новое имя, повторный резолв. На кейсе – конфликт объявления.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читать вслух. У текста нет символа; у LSP символ есть, но только rename, один язык и конфликты как повезёт; у движка – модель проекта и проверка до правки. Ниша текста – некомпилирующийся код и нулевая цена входа. Строка контекста – ответ на «сколько стоят описания инструментов».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Это инструкция агента, а не выбор модели: та же модель в другом агенте инструменты вызывает. Единственный инструмент правки у терминальных агентов – замена строки или патч. Источники: github.com/openai/codex, codex-rs/core/gpt_5_codex_prompt.md (тот же текст в промптах для gpt-5.2); блок bypass/auto – по issue anthropics/claude-code #88475 (версии 2.1.228+). Документация Claude Code: на macOS и Linux Glob и Grep убраны из набора по умолчанию – поиск через find и grep в Bash. OpenCode: описание инструмента Edit предлагает replaceAll, «if you want to rename a variable».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промпт, а продуктовое решение: Cursor убрал семантический индекс, потому что модели справляются grep'ом. forum.cursor.com/t/…/165899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Переход к LSP: Serena даёт агенту LSP, и её авторы пишут, что модель к ней сама не идёт. Демо LSP – на Claude Code + Serena. oraios.github.io/serena/02-usage/030_clients.html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Оговорки – только здесь: пилот, 2–3 прогона на ячейку, rename через LSP не тестировали. Тезис статьи – «agent capability = model × harness»: модель сама к LSP не идёт, а если заставить без доработки агента – становится хуже.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Итог по выбору подхода – просьба оргкомитета. Ни один не «правильный»: у каждого ситуация, где он уместен.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jp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jp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jp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" name="Google Shape;63;p1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5" name="Google Shape;65;p1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6" name="Google Shape;66;p1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8" name="Google Shape;68;p1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3" name="Google Shape;73;p1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3" name="Google Shape;83;p1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16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7" name="Google Shape;87;p16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8" name="Google Shape;88;p16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6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8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98" name="Google Shape;98;p18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99" name="Google Shape;99;p18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18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0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8" name="Google Shape;108;p20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9" name="Google Shape;109;p20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1"/>
          <p:cNvSpPr>
            <a:spLocks noGrp="1"/>
          </p:cNvSpPr>
          <p:nvPr>
            <p:ph type="pic" idx="2"/>
          </p:nvPr>
        </p:nvSpPr>
        <p:spPr>
          <a:xfrm>
            <a:off x="5859475" y="465625"/>
            <a:ext cx="2917200" cy="4316700"/>
          </a:xfrm>
          <a:prstGeom prst="roundRect">
            <a:avLst>
              <a:gd name="adj" fmla="val 3546"/>
            </a:avLst>
          </a:prstGeom>
          <a:noFill/>
          <a:ln>
            <a:noFill/>
          </a:ln>
        </p:spPr>
      </p:sp>
      <p:sp>
        <p:nvSpPr>
          <p:cNvPr id="113" name="Google Shape;113;p2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14" name="Google Shape;114;p2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5" name="Google Shape;115;p2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19" name="Google Shape;119;p2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0" name="Google Shape;120;p2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21" name="Google Shape;121;p2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122" name="Google Shape;122;p2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p2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4" name="Google Shape;124;p2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28" name="Google Shape;128;p2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2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0" name="Google Shape;130;p2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0" name="Google Shape;140;p2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1" name="Google Shape;141;p2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2" name="Google Shape;142;p2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3" name="Google Shape;143;p2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4" name="Google Shape;144;p2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46" name="Google Shape;146;p2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7" name="Google Shape;147;p2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8" name="Google Shape;148;p2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56" name="Google Shape;156;p26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7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1" name="Google Shape;161;p2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62" name="Google Shape;162;p27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3" name="Google Shape;163;p27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4" name="Google Shape;164;p27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5" name="Google Shape;165;p27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6" name="Google Shape;166;p27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7" name="Google Shape;167;p27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8" name="Google Shape;168;p27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9" name="Google Shape;169;p27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0" name="Google Shape;170;p27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1" name="Google Shape;171;p27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2" name="Google Shape;172;p27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3" name="Google Shape;173;p27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4" name="Google Shape;174;p27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6" name="Google Shape;176;p27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7" name="Google Shape;177;p27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27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9" name="Google Shape;179;p27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27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1" name="Google Shape;181;p27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27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28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8" name="Google Shape;188;p28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0" name="Google Shape;190;p28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3" name="Google Shape;193;p28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4" name="Google Shape;194;p28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28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6" name="Google Shape;196;p28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7" name="Google Shape;197;p28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8" name="Google Shape;198;p28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9" name="Google Shape;199;p28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0" name="Google Shape;200;p28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1" name="Google Shape;201;p28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202" name="Google Shape;202;p28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solidFill>
          <a:schemeClr val="lt1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/>
          <p:nvPr/>
        </p:nvSpPr>
        <p:spPr>
          <a:xfrm>
            <a:off x="75" y="1680250"/>
            <a:ext cx="9144000" cy="3467400"/>
          </a:xfrm>
          <a:prstGeom prst="rect">
            <a:avLst/>
          </a:prstGeom>
          <a:gradFill>
            <a:gsLst>
              <a:gs pos="0">
                <a:schemeClr val="accent1"/>
              </a:gs>
              <a:gs pos="91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1619866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206" name="Google Shape;206;p29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7" name="Google Shape;207;p29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8" name="Google Shape;208;p29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9" name="Google Shape;209;p29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0" name="Google Shape;210;p29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1" name="Google Shape;211;p29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2" name="Google Shape;212;p29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3" name="Google Shape;213;p29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4" name="Google Shape;214;p29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5" name="Google Shape;215;p2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16" name="Google Shape;216;p29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7" name="Google Shape;217;p29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8" name="Google Shape;218;p29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9" name="Google Shape;219;p29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1" name="Google Shape;221;p29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5" name="Google Shape;225;p3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6" name="Google Shape;226;p30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7" name="Google Shape;227;p30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8" name="Google Shape;228;p30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9" name="Google Shape;229;p30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0" name="Google Shape;230;p30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31" name="Google Shape;231;p30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2" name="Google Shape;232;p30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3" name="Google Shape;233;p30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4" name="Google Shape;234;p30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5" name="Google Shape;235;p30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6" name="Google Shape;236;p30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7" name="Google Shape;237;p30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8" name="Google Shape;238;p30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9" name="Google Shape;239;p30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0" name="Google Shape;240;p30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1" name="Google Shape;241;p30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31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5" name="Google Shape;245;p3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6" name="Google Shape;246;p3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47" name="Google Shape;247;p31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8" name="Google Shape;248;p31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49" name="Google Shape;249;p31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0" name="Google Shape;250;p31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1" name="Google Shape;251;p31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2" name="Google Shape;252;p31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3" name="Google Shape;253;p31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4" name="Google Shape;254;p31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5" name="Google Shape;255;p31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6" name="Google Shape;256;p31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7" name="Google Shape;257;p31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3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1" name="Google Shape;261;p3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62" name="Google Shape;262;p3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3" name="Google Shape;263;p32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4" name="Google Shape;264;p32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5" name="Google Shape;265;p32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6" name="Google Shape;266;p32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7" name="Google Shape;267;p32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8" name="Google Shape;268;p32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9" name="Google Shape;269;p3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0" name="Google Shape;270;p3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1" name="Google Shape;271;p32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2" name="Google Shape;272;p32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3" name="Google Shape;273;p32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4" name="Google Shape;274;p32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5" name="Google Shape;275;p32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6" name="Google Shape;276;p32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7" name="Google Shape;277;p32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3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81" name="Google Shape;281;p3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2" name="Google Shape;282;p33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3" name="Google Shape;283;p33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4" name="Google Shape;284;p33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5" name="Google Shape;285;p33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6" name="Google Shape;286;p33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7" name="Google Shape;287;p33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9" name="Google Shape;289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34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291" name="Google Shape;291;p34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2" name="Google Shape;292;p34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3" name="Google Shape;293;p3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94" name="Google Shape;294;p34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95" name="Google Shape;295;p34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6" name="Google Shape;296;p34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7" name="Google Shape;297;p34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8" name="Google Shape;298;p34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9" name="Google Shape;299;p34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0" name="Google Shape;300;p34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1" name="Google Shape;301;p34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2" name="Google Shape;302;p34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solidFill>
          <a:schemeClr val="lt1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35"/>
          <p:cNvPicPr preferRelativeResize="0"/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3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06" name="Google Shape;306;p3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7" name="Google Shape;307;p35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08" name="Google Shape;308;p35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9" name="Google Shape;309;p35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0" name="Google Shape;310;p35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1" name="Google Shape;311;p35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2" name="Google Shape;312;p35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3" name="Google Shape;313;p35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4" name="Google Shape;314;p35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5" name="Google Shape;315;p35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p3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3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19" name="Google Shape;319;p3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20" name="Google Shape;320;p3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1" name="Google Shape;321;p3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2" name="Google Shape;322;p3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3" name="Google Shape;323;p3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4" name="Google Shape;324;p3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5" name="Google Shape;325;p3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6" name="Google Shape;326;p3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7" name="Google Shape;327;p36"/>
          <p:cNvSpPr txBox="1">
            <a:spLocks noGrp="1"/>
          </p:cNvSpPr>
          <p:nvPr>
            <p:ph type="title" hasCustomPrompt="1"/>
          </p:nvPr>
        </p:nvSpPr>
        <p:spPr>
          <a:xfrm>
            <a:off x="3597475" y="6804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8" name="Google Shape;328;p36"/>
          <p:cNvSpPr txBox="1">
            <a:spLocks noGrp="1"/>
          </p:cNvSpPr>
          <p:nvPr>
            <p:ph type="title" idx="9" hasCustomPrompt="1"/>
          </p:nvPr>
        </p:nvSpPr>
        <p:spPr>
          <a:xfrm>
            <a:off x="3597475" y="2127395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9" name="Google Shape;329;p36"/>
          <p:cNvSpPr txBox="1">
            <a:spLocks noGrp="1"/>
          </p:cNvSpPr>
          <p:nvPr>
            <p:ph type="title" idx="13" hasCustomPrompt="1"/>
          </p:nvPr>
        </p:nvSpPr>
        <p:spPr>
          <a:xfrm>
            <a:off x="3597475" y="35912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30" name="Google Shape;330;p36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28503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37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334" name="Google Shape;334;p37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335" name="Google Shape;335;p37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336" name="Google Shape;336;p37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337" name="Google Shape;337;p37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38" name="Google Shape;338;p3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39" name="Google Shape;339;p3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0" name="Google Shape;340;p37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1" name="Google Shape;341;p37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2" name="Google Shape;342;p37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3" name="Google Shape;343;p37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4" name="Google Shape;344;p37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Google Shape;346;p3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3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48" name="Google Shape;348;p3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9" name="Google Shape;349;p38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0" name="Google Shape;350;p38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1" name="Google Shape;351;p38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2" name="Google Shape;352;p38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3" name="Google Shape;353;p38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4" name="Google Shape;354;p38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5" name="Google Shape;355;p38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6" name="Google Shape;356;p38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7" name="Google Shape;357;p38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8" name="Google Shape;358;p38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9" name="Google Shape;359;p3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0" name="Google Shape;360;p38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2" name="Google Shape;362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39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64" name="Google Shape;364;p39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65" name="Google Shape;365;p39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6" name="Google Shape;366;p39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7" name="Google Shape;367;p3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68" name="Google Shape;368;p39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370;p4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40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2" name="Google Shape;372;p40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73" name="Google Shape;373;p4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74" name="Google Shape;374;p40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5" name="Google Shape;375;p40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76" name="Google Shape;376;p40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bg>
      <p:bgPr>
        <a:solidFill>
          <a:schemeClr val="dk1"/>
        </a:solidFill>
        <a:effectLst/>
      </p:bgPr>
    </p:bg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8" name="Google Shape;378;p4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41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80" name="Google Shape;380;p4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81" name="Google Shape;381;p41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2" name="Google Shape;382;p41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383" name="Google Shape;383;p41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42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87" name="Google Shape;387;p42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388" name="Google Shape;388;p42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389" name="Google Shape;389;p42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0" name="Google Shape;390;p42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91" name="Google Shape;391;p42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2" name="Google Shape;392;p4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3" name="Google Shape;393;p42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5" name="Google Shape;395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43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7" name="Google Shape;397;p4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8" name="Google Shape;398;p4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9" name="Google Shape;399;p43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9pPr>
          </a:lstStyle>
          <a:p>
            <a:endParaRPr/>
          </a:p>
        </p:txBody>
      </p:sp>
      <p:sp>
        <p:nvSpPr>
          <p:cNvPr id="400" name="Google Shape;400;p43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2" name="Google Shape;402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44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404" name="Google Shape;404;p4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05" name="Google Shape;405;p4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6" name="Google Shape;406;p44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4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45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0" name="Google Shape;410;p45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1" name="Google Shape;411;p45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2" name="Google Shape;412;p45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3" name="Google Shape;413;p45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4" name="Google Shape;414;p45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5" name="Google Shape;415;p45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6" name="Google Shape;416;p45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7" name="Google Shape;417;p45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8" name="Google Shape;418;p45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9" name="Google Shape;419;p45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20" name="Google Shape;420;p45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21" name="Google Shape;421;p4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22" name="Google Shape;422;p45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3" name="Google Shape;423;p45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Google Shape;425;p4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46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7" name="Google Shape;427;p46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8" name="Google Shape;428;p46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29" name="Google Shape;429;p4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30" name="Google Shape;430;p4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1" name="Google Shape;431;p46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2" name="Google Shape;432;p46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3" name="Google Shape;433;p46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4" name="Google Shape;434;p46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5" name="Google Shape;435;p46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6" name="Google Shape;436;p46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7" name="Google Shape;437;p46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8" name="Google Shape;438;p46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9" name="Google Shape;439;p46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0" name="Google Shape;440;p46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1" name="Google Shape;441;p46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2" name="Google Shape;442;p46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3" name="Google Shape;443;p46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4" name="Google Shape;444;p46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4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47" name="Google Shape;447;p4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2" name="Google Shape;452;p4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56" name="Google Shape;456;p50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5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52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1" name="Google Shape;461;p52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5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5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66" name="Google Shape;466;p5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67" name="Google Shape;467;p5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55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6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2" name="Google Shape;472;p56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58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6" name="Google Shape;476;p58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7" name="Google Shape;477;p58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8" name="Google Shape;478;p58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9" name="Google Shape;479;p58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0" name="Google Shape;480;p58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1" name="Google Shape;481;p58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5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4" name="Google Shape;484;p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5" name="Google Shape;485;p59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60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88" name="Google Shape;488;p60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9" name="Google Shape;489;p60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0" name="Google Shape;490;p60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1" name="Google Shape;491;p60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61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4" name="Google Shape;494;p61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5" name="Google Shape;495;p61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96" name="Google Shape;496;p61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7" name="Google Shape;497;p61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8" name="Google Shape;498;p61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9" name="Google Shape;499;p61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62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2" name="Google Shape;502;p62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3" name="Google Shape;503;p62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4" name="Google Shape;504;p62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5" name="Google Shape;505;p62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06" name="Google Shape;506;p62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7" name="Google Shape;507;p62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8" name="Google Shape;508;p62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9" name="Google Shape;509;p62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6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2" name="Google Shape;512;p63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64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5" name="Google Shape;515;p64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6" name="Google Shape;516;p64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7" name="Google Shape;517;p64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8" name="Google Shape;518;p6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9" name="Google Shape;519;p64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20" name="Google Shape;520;p64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65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3" name="Google Shape;523;p65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4" name="Google Shape;524;p65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5" name="Google Shape;525;p65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6" name="Google Shape;526;p65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7" name="Google Shape;527;p65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8" name="Google Shape;528;p6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9" name="Google Shape;529;p65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0" name="Google Shape;530;p65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1" name="Google Shape;531;p65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66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67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67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7" name="Google Shape;537;p67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8" name="Google Shape;538;p67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9" name="Google Shape;539;p67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0" name="Google Shape;540;p67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1" name="Google Shape;541;p67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2" name="Google Shape;542;p67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3" name="Google Shape;543;p67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67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ai Deck Template">
  <p:cSld name="BLANK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550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1" name="Google Shape;551;p69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2" name="Google Shape;552;p69"/>
          <p:cNvSpPr txBox="1">
            <a:spLocks noGrp="1"/>
          </p:cNvSpPr>
          <p:nvPr>
            <p:ph type="title"/>
          </p:nvPr>
        </p:nvSpPr>
        <p:spPr>
          <a:xfrm>
            <a:off x="361969" y="3337797"/>
            <a:ext cx="6276900" cy="1442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3" name="Google Shape;553;p69"/>
          <p:cNvSpPr txBox="1">
            <a:spLocks noGrp="1"/>
          </p:cNvSpPr>
          <p:nvPr>
            <p:ph type="subTitle" idx="2"/>
          </p:nvPr>
        </p:nvSpPr>
        <p:spPr>
          <a:xfrm>
            <a:off x="361975" y="2813403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54" name="Google Shape;554;p69" title="Dark theme=white@3x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1969" y="369297"/>
            <a:ext cx="923182" cy="3344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6" name="Google Shape;556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70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58" name="Google Shape;558;p70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559" name="Google Shape;559;p70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0" name="Google Shape;560;p70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 1">
  <p:cSld name="CUSTOM_20_1">
    <p:bg>
      <p:bgPr>
        <a:solidFill>
          <a:schemeClr val="dk1"/>
        </a:solidFill>
        <a:effectLst/>
      </p:bgPr>
    </p:bg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71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sp>
      <p:sp>
        <p:nvSpPr>
          <p:cNvPr id="563" name="Google Shape;563;p7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4" name="Google Shape;564;p7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5" name="Google Shape;565;p7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7" name="Google Shape;567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8" name="Google Shape;568;p7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69" name="Google Shape;569;p7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0" name="Google Shape;570;p7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71" name="Google Shape;571;p7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572" name="Google Shape;572;p7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3" name="Google Shape;573;p7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4" name="Google Shape;574;p7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Google Shape;576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7" name="Google Shape;577;p7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78" name="Google Shape;578;p7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7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0" name="Google Shape;580;p7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2" name="Google Shape;582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3" name="Google Shape;583;p7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84" name="Google Shape;584;p7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5" name="Google Shape;585;p7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86" name="Google Shape;586;p7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8" name="Google Shape;588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p7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90" name="Google Shape;590;p7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91" name="Google Shape;591;p75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3" name="Google Shape;593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76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5" name="Google Shape;595;p76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6" name="Google Shape;596;p76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7" name="Google Shape;597;p76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8" name="Google Shape;598;p76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9" name="Google Shape;599;p76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0" name="Google Shape;600;p7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01" name="Google Shape;601;p76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2" name="Google Shape;602;p76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3" name="Google Shape;603;p76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4" name="Google Shape;604;p76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5" name="Google Shape;605;p76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6" name="Google Shape;606;p76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7" name="Google Shape;607;p76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los Text Medium"/>
              <a:buNone/>
              <a:defRPr sz="2000">
                <a:latin typeface="Golos Text Medium"/>
                <a:ea typeface="Golos Text Medium"/>
                <a:cs typeface="Golos Text Medium"/>
                <a:sym typeface="Golos Tex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9" name="Google Shape;609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0" name="Google Shape;610;p7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1" name="Google Shape;611;p7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2" name="Google Shape;612;p7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" name="Google Shape;614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78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6" name="Google Shape;616;p7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7" name="Google Shape;617;p78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8" name="Google Shape;618;p78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9" name="Google Shape;619;p78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0" name="Google Shape;620;p78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1" name="Google Shape;621;p78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2" name="Google Shape;622;p78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3" name="Google Shape;623;p78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4" name="Google Shape;624;p78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5" name="Google Shape;625;p78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6" name="Google Shape;626;p78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7" name="Google Shape;627;p78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8" name="Google Shape;628;p78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9" name="Google Shape;629;p78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0" name="Google Shape;630;p78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1" name="Google Shape;631;p78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2" name="Google Shape;632;p78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3" name="Google Shape;633;p78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4" name="Google Shape;634;p78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5" name="Google Shape;635;p78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6" name="Google Shape;636;p78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7" name="Google Shape;637;p7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9" name="Google Shape;639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p7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41" name="Google Shape;641;p7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2" name="Google Shape;642;p79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3" name="Google Shape;643;p79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4" name="Google Shape;644;p79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5" name="Google Shape;645;p79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6" name="Google Shape;646;p79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7" name="Google Shape;647;p79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8" name="Google Shape;648;p79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9" name="Google Shape;649;p79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0" name="Google Shape;650;p79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1" name="Google Shape;651;p79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2" name="Google Shape;652;p79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3" name="Google Shape;653;p79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4" name="Google Shape;654;p79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5" name="Google Shape;655;p79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6" name="Google Shape;656;p79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7" name="Google Shape;657;p79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9" name="Google Shape;659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p80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1" name="Google Shape;661;p80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2" name="Google Shape;662;p80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3" name="Google Shape;663;p80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4" name="Google Shape;664;p80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5" name="Google Shape;665;p80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6" name="Google Shape;666;p80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7" name="Google Shape;667;p80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8" name="Google Shape;668;p80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69" name="Google Shape;669;p8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0" name="Google Shape;670;p80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71" name="Google Shape;671;p80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2" name="Google Shape;672;p80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3" name="Google Shape;673;p80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4" name="Google Shape;674;p80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5" name="Google Shape;675;p80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7" name="Google Shape;677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78" name="Google Shape;678;p8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9" name="Google Shape;679;p8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80" name="Google Shape;680;p81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1" name="Google Shape;681;p81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2" name="Google Shape;682;p81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3" name="Google Shape;683;p81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4" name="Google Shape;684;p81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85" name="Google Shape;685;p81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6" name="Google Shape;686;p81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7" name="Google Shape;687;p81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8" name="Google Shape;688;p81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9" name="Google Shape;689;p81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0" name="Google Shape;690;p81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1" name="Google Shape;691;p81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2" name="Google Shape;692;p81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3" name="Google Shape;693;p81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4" name="Google Shape;694;p81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5" name="Google Shape;695;p81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7" name="Google Shape;697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98" name="Google Shape;698;p8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9" name="Google Shape;699;p8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00" name="Google Shape;700;p8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01" name="Google Shape;701;p82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2" name="Google Shape;702;p82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3" name="Google Shape;703;p82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4" name="Google Shape;704;p82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5" name="Google Shape;705;p82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6" name="Google Shape;706;p82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7" name="Google Shape;707;p8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8" name="Google Shape;708;p8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9" name="Google Shape;709;p82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0" name="Google Shape;710;p82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1" name="Google Shape;711;p82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3" name="Google Shape;713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p8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5" name="Google Shape;715;p8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16" name="Google Shape;716;p8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17" name="Google Shape;717;p83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8" name="Google Shape;718;p83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9" name="Google Shape;719;p83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0" name="Google Shape;720;p83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1" name="Google Shape;721;p83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2" name="Google Shape;722;p83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3" name="Google Shape;723;p83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4" name="Google Shape;724;p83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5" name="Google Shape;725;p83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6" name="Google Shape;726;p83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7" name="Google Shape;727;p83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8" name="Google Shape;728;p83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9" name="Google Shape;729;p83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30" name="Google Shape;730;p83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1" name="Google Shape;731;p83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3" name="Google Shape;733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4" name="Google Shape;734;p8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35" name="Google Shape;735;p8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36" name="Google Shape;736;p84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7" name="Google Shape;737;p84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8" name="Google Shape;738;p84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9" name="Google Shape;739;p84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0" name="Google Shape;740;p84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1" name="Google Shape;741;p84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3" name="Google Shape;743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4" name="Google Shape;744;p85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745" name="Google Shape;745;p85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6" name="Google Shape;746;p85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47" name="Google Shape;747;p8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48" name="Google Shape;748;p85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49" name="Google Shape;749;p85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0" name="Google Shape;750;p85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1" name="Google Shape;751;p85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2" name="Google Shape;752;p85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3" name="Google Shape;753;p85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4" name="Google Shape;754;p85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5" name="Google Shape;755;p85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6" name="Google Shape;756;p85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8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59" name="Google Shape;759;p8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60" name="Google Shape;760;p86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1" name="Google Shape;761;p86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2" name="Google Shape;762;p86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3" name="Google Shape;763;p86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4" name="Google Shape;764;p86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5" name="Google Shape;765;p86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6" name="Google Shape;766;p86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7" name="Google Shape;767;p86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8" name="Google Shape;768;p86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8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71" name="Google Shape;771;p8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2" name="Google Shape;772;p87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3" name="Google Shape;773;p87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4" name="Google Shape;774;p87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5" name="Google Shape;775;p87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6" name="Google Shape;776;p87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7" name="Google Shape;777;p87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8" name="Google Shape;778;p87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9" name="Google Shape;779;p87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0" name="Google Shape;780;p87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1" name="Google Shape;781;p87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2" name="Google Shape;782;p87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 1">
  <p:cSld name="CUSTOM_28_1">
    <p:bg>
      <p:bgPr>
        <a:solidFill>
          <a:schemeClr val="dk1"/>
        </a:solidFill>
        <a:effectLst/>
      </p:bgPr>
    </p:bg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8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5" name="Google Shape;785;p8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6" name="Google Shape;786;p88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7" name="Google Shape;787;p88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8" name="Google Shape;788;p88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9" name="Google Shape;789;p88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0" name="Google Shape;790;p88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1" name="Google Shape;791;p88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2" name="Google Shape;792;p88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3" name="Google Shape;793;p88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None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4" name="Google Shape;794;p88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5" name="Google Shape;795;p88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6" name="Google Shape;796;p88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" name="Google Shape;798;p8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9" name="Google Shape;799;p89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800" name="Google Shape;800;p89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801" name="Google Shape;801;p89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802" name="Google Shape;802;p89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803" name="Google Shape;803;p89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4" name="Google Shape;804;p8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05" name="Google Shape;805;p8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06" name="Google Shape;806;p89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7" name="Google Shape;807;p89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8" name="Google Shape;808;p89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9" name="Google Shape;809;p89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10" name="Google Shape;810;p89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2" name="Google Shape;812;p9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13" name="Google Shape;813;p9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14" name="Google Shape;814;p9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5" name="Google Shape;815;p90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6" name="Google Shape;816;p90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7" name="Google Shape;817;p90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8" name="Google Shape;818;p90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9" name="Google Shape;819;p90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0" name="Google Shape;820;p90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1" name="Google Shape;821;p90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2" name="Google Shape;822;p90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3" name="Google Shape;823;p90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4" name="Google Shape;824;p90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5" name="Google Shape;825;p90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6" name="Google Shape;826;p90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8" name="Google Shape;828;p9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29" name="Google Shape;829;p91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0" name="Google Shape;830;p91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31" name="Google Shape;831;p91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32" name="Google Shape;832;p91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3" name="Google Shape;833;p9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34" name="Google Shape;834;p91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6" name="Google Shape;836;p9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37" name="Google Shape;837;p92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8" name="Google Shape;838;p92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9" name="Google Shape;839;p9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0" name="Google Shape;840;p92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1" name="Google Shape;841;p92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42" name="Google Shape;842;p92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93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45" name="Google Shape;845;p9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6" name="Google Shape;846;p9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7" name="Google Shape;847;p93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848" name="Google Shape;848;p93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0" name="Google Shape;850;p9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1" name="Google Shape;851;p94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2" name="Google Shape;852;p94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853" name="Google Shape;853;p94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854" name="Google Shape;854;p94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55" name="Google Shape;855;p94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6" name="Google Shape;856;p94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57" name="Google Shape;857;p9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58" name="Google Shape;858;p94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0" name="Google Shape;860;p9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1" name="Google Shape;861;p95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2" name="Google Shape;862;p9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63" name="Google Shape;863;p95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4" name="Google Shape;864;p95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9pPr>
          </a:lstStyle>
          <a:p>
            <a:endParaRPr/>
          </a:p>
        </p:txBody>
      </p:sp>
      <p:sp>
        <p:nvSpPr>
          <p:cNvPr id="865" name="Google Shape;865;p95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7" name="Google Shape;867;p9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96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69" name="Google Shape;869;p9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70" name="Google Shape;870;p9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71" name="Google Shape;871;p96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3" name="Google Shape;873;p9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97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5" name="Google Shape;875;p97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6" name="Google Shape;876;p97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77" name="Google Shape;877;p97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8" name="Google Shape;878;p97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9" name="Google Shape;879;p97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0" name="Google Shape;880;p97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1" name="Google Shape;881;p97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2" name="Google Shape;882;p97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3" name="Google Shape;883;p97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4" name="Google Shape;884;p97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5" name="Google Shape;885;p97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6" name="Google Shape;886;p9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87" name="Google Shape;887;p97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88" name="Google Shape;888;p97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0" name="Google Shape;890;p9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91" name="Google Shape;891;p98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2" name="Google Shape;892;p98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3" name="Google Shape;893;p98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4" name="Google Shape;894;p9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95" name="Google Shape;895;p9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96" name="Google Shape;896;p98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7" name="Google Shape;897;p98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8" name="Google Shape;898;p98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9" name="Google Shape;899;p98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0" name="Google Shape;900;p98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1" name="Google Shape;901;p98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2" name="Google Shape;902;p98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3" name="Google Shape;903;p98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4" name="Google Shape;904;p98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5" name="Google Shape;905;p98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6" name="Google Shape;906;p98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7" name="Google Shape;907;p98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8" name="Google Shape;908;p98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9" name="Google Shape;909;p98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p9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912" name="Google Shape;912;p9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10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10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17" name="Google Shape;917;p10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0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20" name="Google Shape;920;p10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21" name="Google Shape;921;p102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Google Shape;923;p10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04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26" name="Google Shape;926;p104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p105"/>
          <p:cNvSpPr txBox="1">
            <a:spLocks noGrp="1"/>
          </p:cNvSpPr>
          <p:nvPr>
            <p:ph type="title"/>
          </p:nvPr>
        </p:nvSpPr>
        <p:spPr>
          <a:xfrm>
            <a:off x="361969" y="450156"/>
            <a:ext cx="6276900" cy="4090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06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931" name="Google Shape;931;p106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32" name="Google Shape;932;p106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107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08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7" name="Google Shape;937;p108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110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1" name="Google Shape;941;p110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2" name="Google Shape;942;p110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3" name="Google Shape;943;p110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4" name="Google Shape;944;p110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5" name="Google Shape;945;p110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6" name="Google Shape;946;p110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1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9" name="Google Shape;949;p11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0" name="Google Shape;950;p111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p112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53" name="Google Shape;953;p112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4" name="Google Shape;954;p112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5" name="Google Shape;955;p112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56" name="Google Shape;956;p112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113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9" name="Google Shape;959;p113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0" name="Google Shape;960;p113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61" name="Google Shape;961;p113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2" name="Google Shape;962;p113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3" name="Google Shape;963;p113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4" name="Google Shape;964;p113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114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7" name="Google Shape;967;p114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8" name="Google Shape;968;p114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9" name="Google Shape;969;p114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70" name="Google Shape;970;p114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71" name="Google Shape;971;p114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2" name="Google Shape;972;p114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3" name="Google Shape;973;p114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4" name="Google Shape;974;p114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1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77" name="Google Shape;977;p115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116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0" name="Google Shape;980;p116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1" name="Google Shape;981;p116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2" name="Google Shape;982;p116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3" name="Google Shape;983;p1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84" name="Google Shape;984;p116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985" name="Google Shape;985;p116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 1">
  <p:cSld name="Two storyboards_1">
    <p:bg>
      <p:bgPr>
        <a:solidFill>
          <a:schemeClr val="dk1"/>
        </a:solidFill>
        <a:effectLst/>
      </p:bgPr>
    </p:bg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p117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88" name="Google Shape;988;p117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9" name="Google Shape;989;p117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90" name="Google Shape;990;p117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1" name="Google Shape;991;p1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3000"/>
              <a:buNone/>
              <a:defRPr sz="3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2" name="Google Shape;992;p117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3" name="Google Shape;993;p117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118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6" name="Google Shape;996;p118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7" name="Google Shape;997;p118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8" name="Google Shape;998;p118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9" name="Google Shape;999;p118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0" name="Google Shape;1000;p118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01" name="Google Shape;1001;p1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02" name="Google Shape;1002;p118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3" name="Google Shape;1003;p118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4" name="Google Shape;1004;p118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10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Google Shape;1006;p119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20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9" name="Google Shape;1009;p120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0" name="Google Shape;1010;p120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1" name="Google Shape;1011;p120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2" name="Google Shape;1012;p120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3" name="Google Shape;1013;p120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4" name="Google Shape;1014;p120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15" name="Google Shape;1015;p120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6" name="Google Shape;1016;p120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7" name="Google Shape;1017;p120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1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0" name="Google Shape;1020;p1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021" name="Google Shape;1021;p1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p1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024" name="Google Shape;1024;p1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4.xml"/><Relationship Id="rId18" Type="http://schemas.openxmlformats.org/officeDocument/2006/relationships/slideLayout" Target="../slideLayouts/slideLayout35.xml"/><Relationship Id="rId19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0.xml"/><Relationship Id="rId24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43.xml"/><Relationship Id="rId27" Type="http://schemas.openxmlformats.org/officeDocument/2006/relationships/slideLayout" Target="../slideLayouts/slideLayout44.xml"/><Relationship Id="rId28" Type="http://schemas.openxmlformats.org/officeDocument/2006/relationships/slideLayout" Target="../slideLayouts/slideLayout45.xml"/><Relationship Id="rId29" Type="http://schemas.openxmlformats.org/officeDocument/2006/relationships/slideLayout" Target="../slideLayouts/slideLayout46.xml"/><Relationship Id="rId30" Type="http://schemas.openxmlformats.org/officeDocument/2006/relationships/slideLayout" Target="../slideLayouts/slideLayout47.xml"/><Relationship Id="rId31" Type="http://schemas.openxmlformats.org/officeDocument/2006/relationships/slideLayout" Target="../slideLayouts/slideLayout48.xml"/><Relationship Id="rId32" Type="http://schemas.openxmlformats.org/officeDocument/2006/relationships/slideLayout" Target="../slideLayouts/slideLayout49.xml"/><Relationship Id="rId33" Type="http://schemas.openxmlformats.org/officeDocument/2006/relationships/slideLayout" Target="../slideLayouts/slideLayout50.xml"/><Relationship Id="rId34" Type="http://schemas.openxmlformats.org/officeDocument/2006/relationships/slideLayout" Target="../slideLayouts/slideLayout51.xml"/><Relationship Id="rId35" Type="http://schemas.openxmlformats.org/officeDocument/2006/relationships/slideLayout" Target="../slideLayouts/slideLayout52.xml"/><Relationship Id="rId36" Type="http://schemas.openxmlformats.org/officeDocument/2006/relationships/slideLayout" Target="../slideLayouts/slideLayout53.xml"/><Relationship Id="rId37" Type="http://schemas.openxmlformats.org/officeDocument/2006/relationships/slideLayout" Target="../slideLayouts/slideLayout54.xml"/><Relationship Id="rId38" Type="http://schemas.openxmlformats.org/officeDocument/2006/relationships/slideLayout" Target="../slideLayouts/slideLayout55.xml"/><Relationship Id="rId39" Type="http://schemas.openxmlformats.org/officeDocument/2006/relationships/slideLayout" Target="../slideLayouts/slideLayout56.xml"/><Relationship Id="rId40" Type="http://schemas.openxmlformats.org/officeDocument/2006/relationships/slideLayout" Target="../slideLayouts/slideLayout57.xml"/><Relationship Id="rId41" Type="http://schemas.openxmlformats.org/officeDocument/2006/relationships/slideLayout" Target="../slideLayouts/slideLayout58.xml"/><Relationship Id="rId42" Type="http://schemas.openxmlformats.org/officeDocument/2006/relationships/slideLayout" Target="../slideLayouts/slideLayout59.xml"/><Relationship Id="rId43" Type="http://schemas.openxmlformats.org/officeDocument/2006/relationships/slideLayout" Target="../slideLayouts/slideLayout60.xml"/><Relationship Id="rId44" Type="http://schemas.openxmlformats.org/officeDocument/2006/relationships/slideLayout" Target="../slideLayouts/slideLayout61.xml"/><Relationship Id="rId45" Type="http://schemas.openxmlformats.org/officeDocument/2006/relationships/slideLayout" Target="../slideLayouts/slideLayout62.xml"/><Relationship Id="rId46" Type="http://schemas.openxmlformats.org/officeDocument/2006/relationships/slideLayout" Target="../slideLayouts/slideLayout63.xml"/><Relationship Id="rId47" Type="http://schemas.openxmlformats.org/officeDocument/2006/relationships/slideLayout" Target="../slideLayouts/slideLayout64.xml"/><Relationship Id="rId48" Type="http://schemas.openxmlformats.org/officeDocument/2006/relationships/slideLayout" Target="../slideLayouts/slideLayout65.xml"/><Relationship Id="rId49" Type="http://schemas.openxmlformats.org/officeDocument/2006/relationships/theme" Target="../theme/theme2.xml"/><Relationship Id="rId5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slideLayout" Target="../slideLayouts/slideLayout67.xml"/><Relationship Id="rId3" Type="http://schemas.openxmlformats.org/officeDocument/2006/relationships/slideLayout" Target="../slideLayouts/slideLayout68.xml"/><Relationship Id="rId4" Type="http://schemas.openxmlformats.org/officeDocument/2006/relationships/slideLayout" Target="../slideLayouts/slideLayout69.xml"/><Relationship Id="rId5" Type="http://schemas.openxmlformats.org/officeDocument/2006/relationships/slideLayout" Target="../slideLayouts/slideLayout70.xml"/><Relationship Id="rId6" Type="http://schemas.openxmlformats.org/officeDocument/2006/relationships/slideLayout" Target="../slideLayouts/slideLayout71.xml"/><Relationship Id="rId7" Type="http://schemas.openxmlformats.org/officeDocument/2006/relationships/slideLayout" Target="../slideLayouts/slideLayout72.xml"/><Relationship Id="rId8" Type="http://schemas.openxmlformats.org/officeDocument/2006/relationships/slideLayout" Target="../slideLayouts/slideLayout73.xml"/><Relationship Id="rId9" Type="http://schemas.openxmlformats.org/officeDocument/2006/relationships/slideLayout" Target="../slideLayouts/slideLayout74.xml"/><Relationship Id="rId10" Type="http://schemas.openxmlformats.org/officeDocument/2006/relationships/slideLayout" Target="../slideLayouts/slideLayout75.xml"/><Relationship Id="rId11" Type="http://schemas.openxmlformats.org/officeDocument/2006/relationships/slideLayout" Target="../slideLayouts/slideLayout76.xml"/><Relationship Id="rId12" Type="http://schemas.openxmlformats.org/officeDocument/2006/relationships/slideLayout" Target="../slideLayouts/slideLayout77.xml"/><Relationship Id="rId13" Type="http://schemas.openxmlformats.org/officeDocument/2006/relationships/slideLayout" Target="../slideLayouts/slideLayout78.xml"/><Relationship Id="rId14" Type="http://schemas.openxmlformats.org/officeDocument/2006/relationships/slideLayout" Target="../slideLayouts/slideLayout79.xml"/><Relationship Id="rId15" Type="http://schemas.openxmlformats.org/officeDocument/2006/relationships/slideLayout" Target="../slideLayouts/slideLayout80.xml"/><Relationship Id="rId16" Type="http://schemas.openxmlformats.org/officeDocument/2006/relationships/slideLayout" Target="../slideLayouts/slideLayout81.xml"/><Relationship Id="rId17" Type="http://schemas.openxmlformats.org/officeDocument/2006/relationships/slideLayout" Target="../slideLayouts/slideLayout82.xml"/><Relationship Id="rId18" Type="http://schemas.openxmlformats.org/officeDocument/2006/relationships/slideLayout" Target="../slideLayouts/slideLayout83.xml"/><Relationship Id="rId19" Type="http://schemas.openxmlformats.org/officeDocument/2006/relationships/slideLayout" Target="../slideLayouts/slideLayout84.xml"/><Relationship Id="rId20" Type="http://schemas.openxmlformats.org/officeDocument/2006/relationships/slideLayout" Target="../slideLayouts/slideLayout85.xml"/><Relationship Id="rId21" Type="http://schemas.openxmlformats.org/officeDocument/2006/relationships/slideLayout" Target="../slideLayouts/slideLayout86.xml"/><Relationship Id="rId22" Type="http://schemas.openxmlformats.org/officeDocument/2006/relationships/slideLayout" Target="../slideLayouts/slideLayout87.xml"/><Relationship Id="rId23" Type="http://schemas.openxmlformats.org/officeDocument/2006/relationships/slideLayout" Target="../slideLayouts/slideLayout88.xml"/><Relationship Id="rId24" Type="http://schemas.openxmlformats.org/officeDocument/2006/relationships/slideLayout" Target="../slideLayouts/slideLayout89.xml"/><Relationship Id="rId25" Type="http://schemas.openxmlformats.org/officeDocument/2006/relationships/slideLayout" Target="../slideLayouts/slideLayout90.xml"/><Relationship Id="rId26" Type="http://schemas.openxmlformats.org/officeDocument/2006/relationships/slideLayout" Target="../slideLayouts/slideLayout91.xml"/><Relationship Id="rId27" Type="http://schemas.openxmlformats.org/officeDocument/2006/relationships/slideLayout" Target="../slideLayouts/slideLayout92.xml"/><Relationship Id="rId28" Type="http://schemas.openxmlformats.org/officeDocument/2006/relationships/slideLayout" Target="../slideLayouts/slideLayout93.xml"/><Relationship Id="rId29" Type="http://schemas.openxmlformats.org/officeDocument/2006/relationships/slideLayout" Target="../slideLayouts/slideLayout94.xml"/><Relationship Id="rId30" Type="http://schemas.openxmlformats.org/officeDocument/2006/relationships/slideLayout" Target="../slideLayouts/slideLayout95.xml"/><Relationship Id="rId31" Type="http://schemas.openxmlformats.org/officeDocument/2006/relationships/slideLayout" Target="../slideLayouts/slideLayout96.xml"/><Relationship Id="rId32" Type="http://schemas.openxmlformats.org/officeDocument/2006/relationships/slideLayout" Target="../slideLayouts/slideLayout97.xml"/><Relationship Id="rId33" Type="http://schemas.openxmlformats.org/officeDocument/2006/relationships/slideLayout" Target="../slideLayouts/slideLayout98.xml"/><Relationship Id="rId34" Type="http://schemas.openxmlformats.org/officeDocument/2006/relationships/slideLayout" Target="../slideLayouts/slideLayout99.xml"/><Relationship Id="rId35" Type="http://schemas.openxmlformats.org/officeDocument/2006/relationships/slideLayout" Target="../slideLayouts/slideLayout100.xml"/><Relationship Id="rId36" Type="http://schemas.openxmlformats.org/officeDocument/2006/relationships/slideLayout" Target="../slideLayouts/slideLayout101.xml"/><Relationship Id="rId37" Type="http://schemas.openxmlformats.org/officeDocument/2006/relationships/slideLayout" Target="../slideLayouts/slideLayout102.xml"/><Relationship Id="rId38" Type="http://schemas.openxmlformats.org/officeDocument/2006/relationships/slideLayout" Target="../slideLayouts/slideLayout103.xml"/><Relationship Id="rId39" Type="http://schemas.openxmlformats.org/officeDocument/2006/relationships/slideLayout" Target="../slideLayouts/slideLayout104.xml"/><Relationship Id="rId40" Type="http://schemas.openxmlformats.org/officeDocument/2006/relationships/slideLayout" Target="../slideLayouts/slideLayout105.xml"/><Relationship Id="rId41" Type="http://schemas.openxmlformats.org/officeDocument/2006/relationships/slideLayout" Target="../slideLayouts/slideLayout106.xml"/><Relationship Id="rId42" Type="http://schemas.openxmlformats.org/officeDocument/2006/relationships/slideLayout" Target="../slideLayouts/slideLayout107.xml"/><Relationship Id="rId43" Type="http://schemas.openxmlformats.org/officeDocument/2006/relationships/slideLayout" Target="../slideLayouts/slideLayout108.xml"/><Relationship Id="rId44" Type="http://schemas.openxmlformats.org/officeDocument/2006/relationships/slideLayout" Target="../slideLayouts/slideLayout109.xml"/><Relationship Id="rId45" Type="http://schemas.openxmlformats.org/officeDocument/2006/relationships/slideLayout" Target="../slideLayouts/slideLayout110.xml"/><Relationship Id="rId46" Type="http://schemas.openxmlformats.org/officeDocument/2006/relationships/slideLayout" Target="../slideLayouts/slideLayout111.xml"/><Relationship Id="rId47" Type="http://schemas.openxmlformats.org/officeDocument/2006/relationships/slideLayout" Target="../slideLayouts/slideLayout112.xml"/><Relationship Id="rId48" Type="http://schemas.openxmlformats.org/officeDocument/2006/relationships/slideLayout" Target="../slideLayouts/slideLayout113.xml"/><Relationship Id="rId49" Type="http://schemas.openxmlformats.org/officeDocument/2006/relationships/slideLayout" Target="../slideLayouts/slideLayout114.xml"/><Relationship Id="rId50" Type="http://schemas.openxmlformats.org/officeDocument/2006/relationships/slideLayout" Target="../slideLayouts/slideLayout115.xml"/><Relationship Id="rId51" Type="http://schemas.openxmlformats.org/officeDocument/2006/relationships/slideLayout" Target="../slideLayouts/slideLayout116.xml"/><Relationship Id="rId52" Type="http://schemas.openxmlformats.org/officeDocument/2006/relationships/slideLayout" Target="../slideLayouts/slideLayout117.xml"/><Relationship Id="rId53" Type="http://schemas.openxmlformats.org/officeDocument/2006/relationships/slideLayout" Target="../slideLayouts/slideLayout118.xml"/><Relationship Id="rId54" Type="http://schemas.openxmlformats.org/officeDocument/2006/relationships/slideLayout" Target="../slideLayouts/slideLayout119.xml"/><Relationship Id="rId55" Type="http://schemas.openxmlformats.org/officeDocument/2006/relationships/theme" Target="../theme/theme3.xml"/><Relationship Id="rId56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0">
            <a:alphaModFix/>
          </a:blip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3" name="Google Shape;103;p19"/>
          <p:cNvSpPr txBox="1">
            <a:spLocks noGrp="1"/>
          </p:cNvSpPr>
          <p:nvPr>
            <p:ph type="title"/>
          </p:nvPr>
        </p:nvSpPr>
        <p:spPr>
          <a:xfrm>
            <a:off x="361975" y="545850"/>
            <a:ext cx="5391300" cy="81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04" name="Google Shape;104;p19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81" r:id="rId17"/>
    <p:sldLayoutId id="2147483682" r:id="rId18"/>
    <p:sldLayoutId id="2147483683" r:id="rId19"/>
    <p:sldLayoutId id="2147483684" r:id="rId20"/>
    <p:sldLayoutId id="2147483685" r:id="rId21"/>
    <p:sldLayoutId id="2147483686" r:id="rId22"/>
    <p:sldLayoutId id="2147483687" r:id="rId23"/>
    <p:sldLayoutId id="2147483688" r:id="rId24"/>
    <p:sldLayoutId id="2147483689" r:id="rId25"/>
    <p:sldLayoutId id="2147483690" r:id="rId26"/>
    <p:sldLayoutId id="2147483691" r:id="rId27"/>
    <p:sldLayoutId id="2147483692" r:id="rId28"/>
    <p:sldLayoutId id="2147483693" r:id="rId29"/>
    <p:sldLayoutId id="2147483694" r:id="rId30"/>
    <p:sldLayoutId id="2147483695" r:id="rId31"/>
    <p:sldLayoutId id="2147483696" r:id="rId32"/>
    <p:sldLayoutId id="2147483697" r:id="rId33"/>
    <p:sldLayoutId id="2147483698" r:id="rId34"/>
    <p:sldLayoutId id="2147483699" r:id="rId35"/>
    <p:sldLayoutId id="2147483700" r:id="rId36"/>
    <p:sldLayoutId id="2147483701" r:id="rId37"/>
    <p:sldLayoutId id="2147483702" r:id="rId38"/>
    <p:sldLayoutId id="2147483703" r:id="rId39"/>
    <p:sldLayoutId id="2147483704" r:id="rId40"/>
    <p:sldLayoutId id="2147483705" r:id="rId41"/>
    <p:sldLayoutId id="2147483706" r:id="rId42"/>
    <p:sldLayoutId id="2147483707" r:id="rId43"/>
    <p:sldLayoutId id="2147483708" r:id="rId44"/>
    <p:sldLayoutId id="2147483709" r:id="rId45"/>
    <p:sldLayoutId id="2147483710" r:id="rId46"/>
    <p:sldLayoutId id="2147483711" r:id="rId47"/>
    <p:sldLayoutId id="2147483712" r:id="rId4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6">
            <a:alphaModFix/>
          </a:blip>
          <a:stretch>
            <a:fillRect/>
          </a:stretch>
        </a:blipFill>
        <a:effectLst/>
      </p:bgPr>
    </p:bg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68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7" name="Google Shape;547;p68"/>
          <p:cNvSpPr txBox="1">
            <a:spLocks noGrp="1"/>
          </p:cNvSpPr>
          <p:nvPr>
            <p:ph type="title"/>
          </p:nvPr>
        </p:nvSpPr>
        <p:spPr>
          <a:xfrm>
            <a:off x="361969" y="465625"/>
            <a:ext cx="6413400" cy="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olos Text"/>
              <a:buNone/>
              <a:defRPr sz="30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8" name="Google Shape;548;p68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  <p:sldLayoutId id="2147483726" r:id="rId14"/>
    <p:sldLayoutId id="2147483727" r:id="rId15"/>
    <p:sldLayoutId id="2147483728" r:id="rId16"/>
    <p:sldLayoutId id="2147483729" r:id="rId17"/>
    <p:sldLayoutId id="2147483730" r:id="rId18"/>
    <p:sldLayoutId id="2147483731" r:id="rId19"/>
    <p:sldLayoutId id="2147483732" r:id="rId20"/>
    <p:sldLayoutId id="2147483733" r:id="rId21"/>
    <p:sldLayoutId id="2147483734" r:id="rId22"/>
    <p:sldLayoutId id="2147483735" r:id="rId23"/>
    <p:sldLayoutId id="2147483736" r:id="rId24"/>
    <p:sldLayoutId id="2147483737" r:id="rId25"/>
    <p:sldLayoutId id="2147483738" r:id="rId26"/>
    <p:sldLayoutId id="2147483739" r:id="rId27"/>
    <p:sldLayoutId id="2147483740" r:id="rId28"/>
    <p:sldLayoutId id="2147483741" r:id="rId29"/>
    <p:sldLayoutId id="2147483742" r:id="rId30"/>
    <p:sldLayoutId id="2147483743" r:id="rId31"/>
    <p:sldLayoutId id="2147483744" r:id="rId32"/>
    <p:sldLayoutId id="2147483745" r:id="rId33"/>
    <p:sldLayoutId id="2147483746" r:id="rId34"/>
    <p:sldLayoutId id="2147483747" r:id="rId35"/>
    <p:sldLayoutId id="2147483748" r:id="rId36"/>
    <p:sldLayoutId id="2147483749" r:id="rId37"/>
    <p:sldLayoutId id="2147483750" r:id="rId38"/>
    <p:sldLayoutId id="2147483751" r:id="rId39"/>
    <p:sldLayoutId id="2147483752" r:id="rId40"/>
    <p:sldLayoutId id="2147483753" r:id="rId41"/>
    <p:sldLayoutId id="2147483754" r:id="rId42"/>
    <p:sldLayoutId id="2147483755" r:id="rId43"/>
    <p:sldLayoutId id="2147483756" r:id="rId44"/>
    <p:sldLayoutId id="2147483757" r:id="rId45"/>
    <p:sldLayoutId id="2147483758" r:id="rId46"/>
    <p:sldLayoutId id="2147483759" r:id="rId47"/>
    <p:sldLayoutId id="2147483760" r:id="rId48"/>
    <p:sldLayoutId id="2147483761" r:id="rId49"/>
    <p:sldLayoutId id="2147483762" r:id="rId50"/>
    <p:sldLayoutId id="2147483763" r:id="rId51"/>
    <p:sldLayoutId id="2147483764" r:id="rId52"/>
    <p:sldLayoutId id="2147483765" r:id="rId53"/>
    <p:sldLayoutId id="2147483766" r:id="rId5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65760"/>
            <a:ext cx="923544" cy="3346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26974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 lang="ru-RU">
                <a:solidFill>
                  <a:srgbClr val="B8B8C8"/>
                </a:solidFill>
                <a:latin typeface="Golos Text"/>
              </a:rPr>
              <a:t>Спикер: Михаил Костицын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035808"/>
            <a:ext cx="84124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 lang="ru-RU">
                <a:solidFill>
                  <a:srgbClr val="FFFFFF"/>
                </a:solidFill>
                <a:latin typeface="Golos Text"/>
              </a:rPr>
              <a:t>Использование инструментов</a:t>
            </a:r>
          </a:p>
          <a:p>
            <a:pPr algn="l">
              <a:lnSpc>
                <a:spcPct val="100000"/>
              </a:lnSpc>
            </a:pPr>
            <a:r>
              <a:rPr sz="3600" b="0" i="0" lang="ru-RU">
                <a:solidFill>
                  <a:srgbClr val="FFFFFF"/>
                </a:solidFill>
                <a:latin typeface="Golos Text"/>
              </a:rPr>
              <a:t>рефакторинга IDE в ИИ-агентах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О себе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2011680"/>
          </a:xfrm>
          <a:prstGeom prst="roundRect">
            <a:avLst>
              <a:gd name="adj" fmla="val 6363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Ведущий разработчик Veai – ИИ-агента для разработчиков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Семь лет в разработке, значительная часть – статический анализ программ и формальная верификация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С 2023 года – разработка ИИ-агентов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520440"/>
            <a:ext cx="8229600" cy="822960"/>
          </a:xfrm>
          <a:prstGeom prst="roundRect">
            <a:avLst>
              <a:gd name="adj" fmla="val 15555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300" b="0" i="0" lang="ru-RU">
                <a:solidFill>
                  <a:srgbClr val="F6C26B"/>
                </a:solidFill>
                <a:latin typeface="Golos Text"/>
              </a:rPr>
              <a:t>Эксперт доклада: TODO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Почему агенты правят текстом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371600"/>
            <a:ext cx="7827264" cy="640080"/>
          </a:xfrm>
          <a:prstGeom prst="roundRect">
            <a:avLst>
              <a:gd name="adj" fmla="val 20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Рефакторинг – изменение структуры кода без изменения поведения программы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3749039" cy="1828800"/>
          </a:xfrm>
          <a:prstGeom prst="roundRect">
            <a:avLst>
              <a:gd name="adj" fmla="val 7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Задача 1: найти все места</a:t>
            </a:r>
          </a:p>
          <a:p>
            <a:pPr algn="l">
              <a:spcAft>
                <a:spcPts val="8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Нужна полнота. 97 % не годится</a:t>
            </a:r>
          </a:p>
          <a:p>
            <a:pPr algn="l">
              <a:spcAft>
                <a:spcPts val="800"/>
              </a:spcAft>
            </a:pPr>
            <a:r>
              <a:rPr sz="1250" b="1" i="0" lang="ru-RU">
                <a:solidFill>
                  <a:srgbClr val="C9B8FF"/>
                </a:solidFill>
                <a:latin typeface="Golos Text"/>
              </a:rPr>
              <a:t>78 вызовов × 97 % = 2 пропуска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36592" y="2286000"/>
            <a:ext cx="3749039" cy="1828800"/>
          </a:xfrm>
          <a:prstGeom prst="roundRect">
            <a:avLst>
              <a:gd name="adj" fmla="val 7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Задача 2: применить</a:t>
            </a:r>
          </a:p>
          <a:p>
            <a:pPr algn="l">
              <a:spcAft>
                <a:spcPts val="8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Нужна корректность: правка не меняет, к какому методу привязан вызов, и не задевает чужое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Зачем это QA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2112264"/>
          </a:xfrm>
          <a:prstGeom prst="roundRect">
            <a:avLst>
              <a:gd name="adj" fmla="val 606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Миграция фреймворка: Selenium → Playwright, JUnit 4 → 5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Наведение структуры: PageObject, композиция фикстур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Смена тестового API проекта: хелперы, базовые классы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529584"/>
            <a:ext cx="8229600" cy="777240"/>
          </a:xfrm>
          <a:prstGeom prst="roundRect">
            <a:avLst>
              <a:gd name="adj" fmla="val 1647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Сотни мест. Зелёные тесты не доказывают, что поведение то же: меняется сам тестовый код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Кейс: detekt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60704"/>
            <a:ext cx="822960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 lang="ru-RU">
                <a:solidFill>
                  <a:srgbClr val="B8B8C8"/>
                </a:solidFill>
                <a:latin typeface="Golos Text"/>
              </a:rPr>
              <a:t>detekt – статический анализатор Kotlin. У него есть тестовая библиотека, с помощью которой авторы правил пишут тесты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581912"/>
            <a:ext cx="8229600" cy="1188720"/>
          </a:xfrm>
          <a:prstGeom prst="roundRect">
            <a:avLst>
              <a:gd name="adj" fmla="val 10769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150" b="0" i="0" lang="ru-RU">
                <a:solidFill>
                  <a:srgbClr val="C9B8FF"/>
                </a:solidFill>
                <a:latin typeface="Menlo"/>
              </a:rPr>
              <a:t>fun Rule.compileAndLint(code)  // компилирует сниппет (в CI), потом проверяет</a:t>
            </a:r>
          </a:p>
          <a:p>
            <a:pPr algn="l">
              <a:spcAft>
                <a:spcPts val="100"/>
              </a:spcAft>
            </a:pPr>
            <a:r>
              <a:rPr sz="1150" b="0" i="0" lang="ru-RU">
                <a:solidFill>
                  <a:srgbClr val="C9B8FF"/>
                </a:solidFill>
                <a:latin typeface="Menlo"/>
              </a:rPr>
              <a:t>fun Rule.lint(code)            // только проверяет: сниппет может не компилироваться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880360"/>
            <a:ext cx="4937760" cy="1783080"/>
          </a:xfrm>
          <a:prstGeom prst="roundRect">
            <a:avLst>
              <a:gd name="adj" fmla="val 7179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ЗАДАЧА</a:t>
            </a:r>
          </a:p>
          <a:p>
            <a:pPr algn="l">
              <a:spcAft>
                <a:spcPts val="500"/>
              </a:spcAft>
            </a:pPr>
            <a:r>
              <a:rPr sz="1200" b="1" i="0" lang="ru-RU">
                <a:solidFill>
                  <a:srgbClr val="FFFFFF"/>
                </a:solidFill>
                <a:latin typeface="Golos Text"/>
              </a:rPr>
              <a:t>Оставить одну функцию: lint(code, compile = true)</a:t>
            </a:r>
          </a:p>
          <a:p>
            <a:pPr algn="l">
              <a:spcAft>
                <a:spcPts val="5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compileAndLint(code) → lint(code)</a:t>
            </a:r>
          </a:p>
          <a:p>
            <a:pPr algn="l">
              <a:spcAft>
                <a:spcPts val="5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старый lint(code) → lint(code, compile = false), чтобы тесты работали как раньше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B8B8C8"/>
                </a:solidFill>
                <a:latin typeface="Golos Text"/>
              </a:rPr>
              <a:t>PR #7873, февраль 2025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2880360"/>
            <a:ext cx="3154680" cy="1783080"/>
          </a:xfrm>
          <a:prstGeom prst="roundRect">
            <a:avLst>
              <a:gd name="adj" fmla="val 7179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МАСШТАБ</a:t>
            </a:r>
          </a:p>
          <a:p>
            <a:pPr algn="l">
              <a:spcAft>
                <a:spcPts val="300"/>
              </a:spcAft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1428 вызовов compileAndLint</a:t>
            </a:r>
          </a:p>
          <a:p>
            <a:pPr algn="l">
              <a:spcAft>
                <a:spcPts val="300"/>
              </a:spcAft>
            </a:pPr>
            <a:r>
              <a:rPr sz="1150" b="1" i="0" lang="ru-RU">
                <a:solidFill>
                  <a:srgbClr val="C9B8FF"/>
                </a:solidFill>
                <a:latin typeface="Golos Text"/>
              </a:rPr>
              <a:t>78 старых lint – им нужен compile = false</a:t>
            </a:r>
          </a:p>
          <a:p>
            <a:pPr algn="l">
              <a:spcAft>
                <a:spcPts val="300"/>
              </a:spcAft>
            </a:pPr>
            <a:r>
              <a:rPr sz="1150" b="0" i="0" lang="ru-RU">
                <a:solidFill>
                  <a:srgbClr val="B8B8C8"/>
                </a:solidFill>
                <a:latin typeface="Golos Text"/>
              </a:rPr>
              <a:t>Не трогать: перегрузка lint(ktFile) – 36; FormattingRule.lint – 66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6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0: человек с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4375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IDE: IntelliJ IDEA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877824"/>
          </a:xfrm>
          <a:prstGeom prst="roundRect">
            <a:avLst>
              <a:gd name="adj" fmla="val 14583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Стоимость: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203704"/>
            <a:ext cx="2651760" cy="2505456"/>
          </a:xfrm>
          <a:prstGeom prst="roundRect">
            <a:avLst>
              <a:gd name="adj" fmla="val 5109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Change Signature на старом lint: параметр compile, в вызовах – false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Rename compileAndLint → lint: конфликт «функция уже объявлена»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Слить тела вручную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0: человек с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Все 78 вызовов старого lint, включая два без точки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FormattingRule.lint и lint(ktFile) не тронуты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Конфликт показан до применения; compile = false подставлен явно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402793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7428" y="3749039"/>
            <a:ext cx="402793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" y="46634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 lang="ru-RU">
                <a:solidFill>
                  <a:srgbClr val="C9B8FF"/>
                </a:solidFill>
                <a:latin typeface="Golos Text"/>
              </a:rPr>
              <a:t>Можно ли быстрее?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0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ИИ-агент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2651760" cy="3017520"/>
          </a:xfrm>
          <a:prstGeom prst="roundRect">
            <a:avLst>
              <a:gd name="adj" fmla="val 4827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КОНТЕКСТ</a:t>
            </a:r>
          </a:p>
          <a:p>
            <a:pPr algn="l">
              <a:spcAft>
                <a:spcPts val="12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что модель видит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системный промпт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история чата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прочитанные файлы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результаты вызовов инструментов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2331720"/>
            <a:ext cx="2286000" cy="1097280"/>
          </a:xfrm>
          <a:prstGeom prst="roundRect">
            <a:avLst>
              <a:gd name="adj" fmla="val 11666"/>
            </a:avLst>
          </a:prstGeom>
          <a:solidFill>
            <a:srgbClr val="1A1233"/>
          </a:solidFill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МОДЕЛЬ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генерирует сообщение
или вызов инструмента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27248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5742432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44184" y="1371600"/>
            <a:ext cx="2651760" cy="3017520"/>
          </a:xfrm>
          <a:prstGeom prst="roundRect">
            <a:avLst>
              <a:gd name="adj" fmla="val 4827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ИНСТРУМЕНТЫ (TOOLS)</a:t>
            </a:r>
          </a:p>
          <a:p>
            <a:pPr algn="l">
              <a:spcAft>
                <a:spcPts val="12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что модель может вызвать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чтение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поиск по тексту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правка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запуск тестов</a:t>
            </a:r>
          </a:p>
        </p:txBody>
      </p:sp>
      <p:sp>
        <p:nvSpPr>
          <p:cNvPr id="10" name="Left Arrow 9"/>
          <p:cNvSpPr/>
          <p:nvPr/>
        </p:nvSpPr>
        <p:spPr>
          <a:xfrm>
            <a:off x="3127248" y="4023360"/>
            <a:ext cx="2889504" cy="146304"/>
          </a:xfrm>
          <a:prstGeom prst="leftArrow">
            <a:avLst/>
          </a:prstGeom>
          <a:solidFill>
            <a:srgbClr val="C9B8FF"/>
          </a:solidFill>
          <a:ln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4187952"/>
            <a:ext cx="288950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результат вызова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" y="45262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B8B8C8"/>
                </a:solidFill>
                <a:latin typeface="Golos Text"/>
              </a:rPr>
              <a:t>ИИ-агент = модель + контекст + инструменты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Почему агенты правят текстом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 lang="ru-RU">
                <a:solidFill>
                  <a:srgbClr val="B8B8C8"/>
                </a:solidFill>
                <a:latin typeface="Golos Text"/>
              </a:rPr>
              <a:t>Агент работает с кодом как с текстом: строки и подстроки, а не функции и вызовы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Задача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929384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148840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Поиск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по тексту: grep, ripgrep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30168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9624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Чтение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найденных файлов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330952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50408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31736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51192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Результат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diff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" y="3108960"/>
            <a:ext cx="8229600" cy="1554480"/>
          </a:xfrm>
          <a:prstGeom prst="roundRect">
            <a:avLst>
              <a:gd name="adj" fmla="val 8235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МЕХАНИЗМЫ ПРАВКИ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Скрипт / regex по файлам – заменяет подстроку везде, где нашёл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Инструмент «правка фрагмента» – удалить / добавить / заменить; каждое место – отдельный вызов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Перезапись файла целиком – модель генерирует новый файл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8" dur="indefinite" nodeType="mainSeq">
                <p:childTnLst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4375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Агент: Claude Code · Модель: Claude Opus (TODO версия)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7909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Время: 13,7 мин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Стоимость: $4.41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Ходы: 53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Токены: 3,9M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44368"/>
            <a:ext cx="2651760" cy="1764792"/>
          </a:xfrm>
          <a:prstGeom prst="roundRect">
            <a:avLst>
              <a:gd name="adj" fmla="val 725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grep по имени функции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Чтение файлов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sed / скрипт по файлам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4.  Точечные правки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5.  Отчёт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EA9999"/>
                </a:solidFill>
                <a:latin typeface="Golos Text"/>
              </a:rPr>
              <a:t>✗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2 из 78 вызовов пропущены: lint("fun f() { $code }") внутри extension-функции – вызов без точки; агент искал «.lint(»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EA9999"/>
                </a:solidFill>
                <a:latin typeface="Golos Text"/>
              </a:rPr>
              <a:t>✗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Комментарий «not compileAndLint for performance reasons» стал «not lint for performance reasons»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EA9999"/>
                </a:solidFill>
                <a:latin typeface="Golos Text"/>
              </a:rPr>
              <a:t>✗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Два хелпера начали компилировать сотни сниппетов. Сборка зелёная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Контекст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Ничего не нужно: ни индекса, ни IDE, ни запущенного проекта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Работает где угодно: CI, worktree, удалённая машина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Любой язык и формат файла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Одно имя – разные функции: FormattingRule.lint и комментарий попадают в замену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Та же функция – другая запись: вызов без точки в замену не попадает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Замена не проверяет результат: строка заменена – не значит, что вызов ведёт туда же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Каждое место – отдельная операция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Где ломается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5156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Одна строка – две разные функции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325880"/>
            <a:ext cx="8229600" cy="1691640"/>
          </a:xfrm>
          <a:prstGeom prst="roundRect">
            <a:avLst>
              <a:gd name="adj" fmla="val 7567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1050" b="0" i="0" lang="ru-RU">
                <a:solidFill>
                  <a:srgbClr val="B8B8C8"/>
                </a:solidFill>
                <a:latin typeface="Menlo"/>
              </a:rPr>
              <a:t>detekt-rules-style/…/UnusedParameterSpec.kt</a:t>
            </a:r>
          </a:p>
          <a:p>
            <a:pPr algn="l">
              <a:spcAft>
                <a:spcPts val="600"/>
              </a:spcAft>
            </a:pPr>
            <a:r>
              <a:rPr sz="1250" b="0" i="0" lang="ru-RU">
                <a:solidFill>
                  <a:srgbClr val="FFFFFF"/>
                </a:solidFill>
                <a:latin typeface="Menlo"/>
              </a:rPr>
              <a:t>    subject.lint(code)   // Rule.lint – та, что меняем</a:t>
            </a:r>
          </a:p>
          <a:p>
            <a:pPr algn="l">
              <a:spcAft>
                <a:spcPts val="200"/>
              </a:spcAft>
            </a:pPr>
            <a:r>
              <a:rPr sz="1050" b="0" i="0" lang="ru-RU">
                <a:solidFill>
                  <a:srgbClr val="B8B8C8"/>
                </a:solidFill>
                <a:latin typeface="Menlo"/>
              </a:rPr>
              <a:t>detekt-formatting/…/IndentationSpec.kt</a:t>
            </a:r>
          </a:p>
          <a:p>
            <a:pPr algn="l">
              <a:spcAft>
                <a:spcPts val="200"/>
              </a:spcAft>
            </a:pPr>
            <a:r>
              <a:rPr sz="1250" b="0" i="0" lang="ru-RU">
                <a:solidFill>
                  <a:srgbClr val="EA9999"/>
                </a:solidFill>
                <a:latin typeface="Menlo"/>
              </a:rPr>
              <a:t>    subject.lint(code)   // FormattingRule.lint – другая функция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3200400"/>
            <a:ext cx="4023360" cy="1463040"/>
          </a:xfrm>
          <a:prstGeom prst="roundRect">
            <a:avLst>
              <a:gd name="adj" fmla="val 875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250" b="1" i="0" lang="ru-RU">
                <a:solidFill>
                  <a:srgbClr val="FFFFFF"/>
                </a:solidFill>
                <a:latin typeface="Golos Text"/>
              </a:rPr>
              <a:t>Полнота</a:t>
            </a:r>
          </a:p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Поиск по подстроке: пропускает одни места и захватывает чужие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3200400"/>
            <a:ext cx="4023360" cy="1463040"/>
          </a:xfrm>
          <a:prstGeom prst="roundRect">
            <a:avLst>
              <a:gd name="adj" fmla="val 875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250" b="1" i="0" lang="ru-RU">
                <a:solidFill>
                  <a:srgbClr val="FFFFFF"/>
                </a:solidFill>
                <a:latin typeface="Golos Text"/>
              </a:rPr>
              <a:t>Корректность</a:t>
            </a:r>
          </a:p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После замены вызов может вести в другую функцию – замена этого не проверяет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Результат и цена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234440"/>
            <a:ext cx="3063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Человек с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14416" y="1234440"/>
            <a:ext cx="3063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Текст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48056" y="1618488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48056" y="169164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1176" y="1691640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14416" y="1691640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2 из 78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" y="2084832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1176" y="2084832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14416" y="2084832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комментарий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" y="2478024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51176" y="2478024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14416" y="2478024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сборка зелёная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48056" y="2871216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8056" y="2871216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Время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51176" y="2871216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14416" y="2871216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" y="3264408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Стоимость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51176" y="3264408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14416" y="3264408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" y="365760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Ходы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51176" y="3657600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14416" y="3657600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" y="4050791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Токены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51176" y="4050791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14416" y="4050791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" y="4443983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Стартовый контекст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51176" y="4443983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14416" y="4443983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43000"/>
            <a:ext cx="82296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Символ – функция, класс или переменная вместе со всеми местами, где она используется</a:t>
            </a:r>
          </a:p>
          <a:p>
            <a:pPr algn="l"/>
            <a:r>
              <a:rPr sz="1250" b="0" i="0" lang="ru-RU">
                <a:solidFill>
                  <a:srgbClr val="B8B8C8"/>
                </a:solidFill>
                <a:latin typeface="Golos Text"/>
              </a:rPr>
              <a:t>LSP (Language Server Protocol) – протокол между редактором или агентом и сервером языка. Сервер – отдельный процесс, который разбирает код и знает, какой текст к какому символу относится. Один сервер на язык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1527048" cy="914400"/>
          </a:xfrm>
          <a:prstGeom prst="roundRect">
            <a:avLst>
              <a:gd name="adj" fmla="val 14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Клиент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редактор или агент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58775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2194560"/>
            <a:ext cx="1527048" cy="914400"/>
          </a:xfrm>
          <a:prstGeom prst="roundRect">
            <a:avLst>
              <a:gd name="adj" fmla="val 14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Запрос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«переименуй символ здесь»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58775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2194560"/>
            <a:ext cx="1527048" cy="914400"/>
          </a:xfrm>
          <a:prstGeom prst="roundRect">
            <a:avLst>
              <a:gd name="adj" fmla="val 14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Сервер языка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резолвит символы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58775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2194560"/>
            <a:ext cx="1527048" cy="914400"/>
          </a:xfrm>
          <a:prstGeom prst="roundRect">
            <a:avLst>
              <a:gd name="adj" fmla="val 14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список текстовых изменений; применяет клиент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337560"/>
            <a:ext cx="7827264" cy="1325880"/>
          </a:xfrm>
          <a:prstGeom prst="roundRect">
            <a:avLst>
              <a:gd name="adj" fmla="val 9655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Что даёт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Переход к определению, поиск использований, переименование по символу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Серверы есть для всех основных языков: rust-analyzer, gopls, pyright; Kotlin LSP – пока экспериментальный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4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4375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Агент: Claude Code + Serena (инструменты LSP) · Модель: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7909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Стоимость: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Ходы: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Токены: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44368"/>
            <a:ext cx="2651760" cy="1764792"/>
          </a:xfrm>
          <a:prstGeom prst="roundRect">
            <a:avLst>
              <a:gd name="adj" fmla="val 725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Запрос references по символу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Список мест от сервера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Правки текстом по списку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4.  Rename по протоколу – если использует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references на старом lint – 99 ссылок, включая оба вызова без точки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Стартовый контекст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2: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Легковесность: нужен только сервер языка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Поиск по символу: находит вызов без точки, различает одноимённые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Ошибки компиляции видны сразу после правки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Из рефакторингов – только переименование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Сервер не знает о правках, пока клиент не сообщит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Один сервер – один язык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Конфликт – как решит сервер; «продолжить» нет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Результат и цена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234440"/>
            <a:ext cx="204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Человек с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93336" y="1234440"/>
            <a:ext cx="204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Текст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35496" y="1234440"/>
            <a:ext cx="204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LSP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48056" y="1618488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48056" y="169164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1176" y="169164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3336" y="169164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2 из 78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5496" y="169164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" y="2084832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1176" y="2084832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3336" y="2084832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комментарий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35496" y="2084832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" y="2478024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51176" y="2478024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3336" y="2478024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сборка зелёная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5496" y="2478024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48056" y="2871216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8056" y="2871216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Время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51176" y="2871216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3336" y="2871216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35496" y="2871216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" y="3264408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Стоимость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51176" y="3264408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3336" y="3264408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35496" y="3264408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" y="365760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Ходы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51176" y="365760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93336" y="365760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35496" y="365760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" y="4050791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Токены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51176" y="4050791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93336" y="4050791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35496" y="4050791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" y="4443983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Стартовый контекст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51176" y="4443983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93336" y="4443983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35496" y="4443983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3: движок рефакторинга IDE (IntelliJ)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43000"/>
            <a:ext cx="8229600" cy="502920"/>
          </a:xfrm>
          <a:prstGeom prst="roundRect">
            <a:avLst>
              <a:gd name="adj" fmla="val 25454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Инструменты IDE позволяют разделить: модель решает «что», движок – «как»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" y="18288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Код представлен не текстом, а графом символов: символ – узел, ссылка – ребро к объявлению. «Все использования» – обход ссылок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532888"/>
            <a:ext cx="4023360" cy="1490472"/>
          </a:xfrm>
          <a:prstGeom prst="roundRect">
            <a:avLst>
              <a:gd name="adj" fmla="val 858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EA9999"/>
                </a:solidFill>
                <a:latin typeface="Golos Text"/>
              </a:rPr>
              <a:t>КАК ВИДИТ GREP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C9B8FF"/>
                </a:solidFill>
                <a:latin typeface="Menlo"/>
              </a:rPr>
              <a:t>grep '\.lint('  → 180 строк: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FFFFFF"/>
                </a:solidFill>
                <a:latin typeface="Menlo"/>
              </a:rPr>
              <a:t>  rule.lint(code)      Rule.lint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FFFFFF"/>
                </a:solidFill>
                <a:latin typeface="Menlo"/>
              </a:rPr>
              <a:t>  subject.lint(code)   FormattingRule.lint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FFFFFF"/>
                </a:solidFill>
                <a:latin typeface="Menlo"/>
              </a:rPr>
              <a:t>  rule.lint(ktFile)    перегрузка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EA9999"/>
                </a:solidFill>
                <a:latin typeface="Menlo"/>
              </a:rPr>
              <a:t>  lint("fun f() …")   – не видно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532888"/>
            <a:ext cx="4023360" cy="1490472"/>
          </a:xfrm>
          <a:prstGeom prst="roundRect">
            <a:avLst>
              <a:gd name="adj" fmla="val 858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93C47D"/>
                </a:solidFill>
                <a:latin typeface="Golos Text"/>
              </a:rPr>
              <a:t>КАК ВИДИТ IDE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93C47D"/>
                </a:solidFill>
                <a:latin typeface="Menlo"/>
              </a:rPr>
              <a:t>Rule.lint(content)   99 ссылок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93C47D"/>
                </a:solidFill>
                <a:latin typeface="Menlo"/>
              </a:rPr>
              <a:t>  в т. ч. 2 без точки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B8B8C8"/>
                </a:solidFill>
                <a:latin typeface="Menlo"/>
              </a:rPr>
              <a:t>Rule.lint(ktFile)    другой символ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B8B8C8"/>
                </a:solidFill>
                <a:latin typeface="Menlo"/>
              </a:rPr>
              <a:t>FormattingRule.lint  другой символ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93C47D"/>
                </a:solidFill>
                <a:latin typeface="Menlo"/>
              </a:rPr>
              <a:t>Rule.compileAndLint  1428 ссылок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4261104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C9B8FF"/>
                </a:solidFill>
                <a:latin typeface="Golos Text"/>
              </a:rPr>
              <a:t>PSI (Program Structure Interface) – модель кода: дерево + ссылки между узлами. IDE держит её в памяти и синхронизирует с редактором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Veai агент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88720"/>
            <a:ext cx="8229600" cy="1005840"/>
          </a:xfrm>
          <a:prstGeom prst="roundRect">
            <a:avLst>
              <a:gd name="adj" fmla="val 12727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 lang="ru-RU">
                <a:solidFill>
                  <a:srgbClr val="FFFFFF"/>
                </a:solidFill>
                <a:latin typeface="Golos Text"/>
              </a:rPr>
              <a:t>ИИ-агент для разработчиков, работает внутри IDE JetBrains</a:t>
            </a:r>
          </a:p>
          <a:p>
            <a:pPr algn="l" marL="201168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 lang="ru-RU">
                <a:solidFill>
                  <a:srgbClr val="FFFFFF"/>
                </a:solidFill>
                <a:latin typeface="Golos Text"/>
              </a:rPr>
              <a:t>Инструменты – те же, что у IDE: поиск по символам, рефакторинги, диагностика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2331720"/>
            <a:ext cx="8229600" cy="2331720"/>
          </a:xfrm>
          <a:prstGeom prst="roundRect">
            <a:avLst>
              <a:gd name="adj" fmla="val 549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400" b="1" i="0" lang="ru-RU">
                <a:solidFill>
                  <a:srgbClr val="F6C26B"/>
                </a:solidFill>
                <a:latin typeface="Golos Text"/>
              </a:rPr>
              <a:t>TODO: скриншот Veai внутри IDE с открытым кейсом detekt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4375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Агент: Veai · Модель: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7909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Стоимость: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Ходы: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Токены: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44368"/>
            <a:ext cx="2651760" cy="1764792"/>
          </a:xfrm>
          <a:prstGeom prst="roundRect">
            <a:avLst>
              <a:gd name="adj" fmla="val 725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Change Signature: параметр compile, false в вызовах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Rename: конфликт «уже объявлена»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Решение по конфликту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4.  Применение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Стартовый контекст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Полнота: находит все ссылки, включая другие языки и конфигурацию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Конфликты до правки: проверяет, куда приведёт вызов после правки, и показывает список конфликтов до применения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Атомарность: поиск, проверка и правка – одна операция; один откат на всю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Нужна запущенная IDE с индексами и кэшами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Индексация занимает время; в этот период рефакторинг недоступен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Применение правки – под блокировкой на запись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Worktree, CI, удалённые машины – стандартного способа нет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Runtime-рефлексия, связи через SQL, шаблоны, HTTP – вне модели кода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PSI: как IDE видит код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88720"/>
            <a:ext cx="5120640" cy="3474720"/>
          </a:xfrm>
          <a:prstGeom prst="roundRect">
            <a:avLst>
              <a:gd name="adj" fmla="val 3684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300" b="1" i="0" lang="ru-RU">
                <a:solidFill>
                  <a:srgbClr val="F6C26B"/>
                </a:solidFill>
                <a:latin typeface="Golos Text"/>
              </a:rPr>
              <a:t>TODO: скриншот PSI Viewer на вызове lint("fun f() { $code }")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720" y="1188720"/>
            <a:ext cx="2926080" cy="1051560"/>
          </a:xfrm>
          <a:prstGeom prst="roundRect">
            <a:avLst>
              <a:gd name="adj" fmla="val 1217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350" b="1" i="0" lang="ru-RU">
                <a:solidFill>
                  <a:srgbClr val="FFFFFF"/>
                </a:solidFill>
                <a:latin typeface="Golos Text"/>
              </a:rPr>
              <a:t>Дерево – синтаксис</a:t>
            </a:r>
          </a:p>
          <a:p>
            <a:pPr algn="l">
              <a:spcAft>
                <a:spcPts val="200"/>
              </a:spcAft>
            </a:pPr>
            <a:r>
              <a:rPr sz="1150" b="0" i="0" lang="ru-RU">
                <a:solidFill>
                  <a:srgbClr val="B8B8C8"/>
                </a:solidFill>
                <a:latin typeface="Golos Text"/>
              </a:rPr>
              <a:t>Как код записан: вызов, имя, аргументы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2395728"/>
            <a:ext cx="2926080" cy="1051560"/>
          </a:xfrm>
          <a:prstGeom prst="roundRect">
            <a:avLst>
              <a:gd name="adj" fmla="val 1217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350" b="1" i="0" lang="ru-RU">
                <a:solidFill>
                  <a:srgbClr val="FFFFFF"/>
                </a:solidFill>
                <a:latin typeface="Golos Text"/>
              </a:rPr>
              <a:t>Ссылка – семантика</a:t>
            </a:r>
          </a:p>
          <a:p>
            <a:pPr algn="l">
              <a:spcAft>
                <a:spcPts val="200"/>
              </a:spcAft>
            </a:pPr>
            <a:r>
              <a:rPr sz="1150" b="0" i="0" lang="ru-RU">
                <a:solidFill>
                  <a:srgbClr val="B8B8C8"/>
                </a:solidFill>
                <a:latin typeface="Golos Text"/>
              </a:rPr>
              <a:t>Узел lint → объявление Rule.lint. Текст тот же, цель может быть другой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3602736"/>
            <a:ext cx="2926080" cy="1051560"/>
          </a:xfrm>
          <a:prstGeom prst="roundRect">
            <a:avLst>
              <a:gd name="adj" fmla="val 1217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350" b="1" i="0" lang="ru-RU">
                <a:solidFill>
                  <a:srgbClr val="FFFFFF"/>
                </a:solidFill>
                <a:latin typeface="Golos Text"/>
              </a:rPr>
              <a:t>Индексы</a:t>
            </a:r>
          </a:p>
          <a:p>
            <a:pPr algn="l">
              <a:spcAft>
                <a:spcPts val="200"/>
              </a:spcAft>
            </a:pPr>
            <a:r>
              <a:rPr sz="1150" b="0" i="0" lang="ru-RU">
                <a:solidFill>
                  <a:srgbClr val="B8B8C8"/>
                </a:solidFill>
                <a:latin typeface="Golos Text"/>
              </a:rPr>
              <a:t>Где какое имя встречается – обход ссылок быстрый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470916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 lang="ru-RU">
                <a:solidFill>
                  <a:srgbClr val="C9B8FF"/>
                </a:solidFill>
                <a:latin typeface="Golos Text"/>
              </a:rPr>
              <a:t>Модель кода живёт в памяти IDE и синхронизируется с редактором при каждой правке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Полнота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2011680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Menlo"/>
              </a:rPr>
              <a:t>Rule.lint(content)</a:t>
            </a:r>
          </a:p>
          <a:p>
            <a:pPr algn="ctr"/>
            <a:r>
              <a:rPr sz="950" b="0" i="0" lang="ru-RU">
                <a:solidFill>
                  <a:srgbClr val="B8B8C8"/>
                </a:solidFill>
                <a:latin typeface="Golos Text"/>
              </a:rPr>
              <a:t>объявление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21945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 lang="ru-RU">
                <a:solidFill>
                  <a:srgbClr val="FFFFFF"/>
                </a:solidFill>
                <a:latin typeface="Menlo"/>
              </a:rPr>
              <a:t>rule.lint(code)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88920" y="153619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91840" y="1920240"/>
            <a:ext cx="21945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 lang="ru-RU">
                <a:solidFill>
                  <a:srgbClr val="FFFFFF"/>
                </a:solidFill>
                <a:latin typeface="Menlo"/>
              </a:rPr>
              <a:t>lint("fun f() …") – без точки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88920" y="208483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91840" y="2468880"/>
            <a:ext cx="21945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 lang="ru-RU">
                <a:solidFill>
                  <a:srgbClr val="FFFFFF"/>
                </a:solidFill>
                <a:latin typeface="Menlo"/>
              </a:rPr>
              <a:t>import …test.lint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788920" y="263347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60604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ссылка: источник → цель;
обратный поиск – все источники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1280160"/>
            <a:ext cx="2834640" cy="2103120"/>
          </a:xfrm>
          <a:prstGeom prst="roundRect">
            <a:avLst>
              <a:gd name="adj" fmla="val 6086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93C47D"/>
                </a:solidFill>
                <a:latin typeface="Golos Text"/>
              </a:rPr>
              <a:t>ИСТОЧНИКИ ССЫЛОК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Ссылка – слой поверх дерева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Плагины добавляют ссылки в другие языки и конфигурацию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Индексы: где какое имя встречается, кто кого наследует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Индексы и модель – в памяти IDE и кэшах на диске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2004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На некомпилирующемся коде – частично: неразрешённые ссылки помечаются отдельно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703320"/>
            <a:ext cx="8028431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050" b="1" i="0" lang="ru-RU">
                <a:solidFill>
                  <a:srgbClr val="EA9999"/>
                </a:solidFill>
                <a:latin typeface="Golos Text"/>
              </a:rPr>
              <a:t>ОГРАНИЧЕНИЕ (JVM)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Menlo"/>
              </a:rPr>
              <a:t>Class.forName("com.foo.Bar")   – ссылка есть, переименуется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Menlo"/>
              </a:rPr>
              <a:t>Class.forName(prefix + name)   – runtime-рефлексия, не анализируется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0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Корректность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188720"/>
            <a:ext cx="7827264" cy="548640"/>
          </a:xfrm>
          <a:prstGeom prst="roundRect">
            <a:avLst>
              <a:gd name="adj" fmla="val 23333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Правка примеряется на копии в памяти: конфликты видны до того, как тронут файл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20240"/>
            <a:ext cx="1527048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Копия вызова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в памяти, файл не меняется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1920240"/>
            <a:ext cx="1527048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Новое имя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на копии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1920240"/>
            <a:ext cx="1527048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Разрешение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заново: какой метод?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1920240"/>
            <a:ext cx="1527048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Другой метод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→ конфликт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834640"/>
            <a:ext cx="3383280" cy="1554480"/>
          </a:xfrm>
          <a:prstGeom prst="roundRect">
            <a:avLst>
              <a:gd name="adj" fmla="val 8235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B8B8C8"/>
                </a:solidFill>
                <a:latin typeface="Golos Text"/>
              </a:rPr>
              <a:t>ДО RENAME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FFFFFF"/>
                </a:solidFill>
                <a:latin typeface="Menlo"/>
              </a:rPr>
              <a:t>rule.compileAndLint(code)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93C47D"/>
                </a:solidFill>
                <a:latin typeface="Menlo"/>
              </a:rPr>
              <a:t>rule.lint(code)  – другая функция, без компиляции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02352" y="2834640"/>
            <a:ext cx="3383280" cy="1554480"/>
          </a:xfrm>
          <a:prstGeom prst="roundRect">
            <a:avLst>
              <a:gd name="adj" fmla="val 8235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B8B8C8"/>
                </a:solidFill>
                <a:latin typeface="Golos Text"/>
              </a:rPr>
              <a:t>ПОСЛЕ RENAME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FFFFFF"/>
                </a:solidFill>
                <a:latin typeface="Menlo"/>
              </a:rPr>
              <a:t>rule.lint(code)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EA9999"/>
                </a:solidFill>
                <a:latin typeface="Menlo"/>
              </a:rPr>
              <a:t>rule.lint(code)  – неразличимы; 78 вызовов меняют смысл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297680" y="3520440"/>
            <a:ext cx="548640" cy="146304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434840"/>
            <a:ext cx="7827264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C9B8FF"/>
                </a:solidFill>
                <a:latin typeface="Golos Text"/>
              </a:rPr>
              <a:t>Конфликт показан до применения. Применение – одна операция: либо всё, либо ничего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4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Результат и цена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Человек с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8279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Текст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1441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LSP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603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Движок IDE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8056" y="1618488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48056" y="169164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5117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8279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2 из 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1441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4603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2084832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117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279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комментарий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1441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603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" y="2478024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5117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279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сборка зелёная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1441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603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48056" y="2871216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48056" y="2871216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Время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5117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8279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1441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4603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" y="3264408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Стоимость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5117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8279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1441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4603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" y="365760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Ходы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5117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279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1441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4603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" y="4050791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Токены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5117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279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1441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4603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6" y="4443983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Стартовый контекст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5117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8279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1441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4603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Почему агенты правят текстом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Почему агенты правят текстом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агентов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5156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Codex CLI – системный промпт</a:t>
            </a:r>
          </a:p>
        </p:txBody>
      </p:sp>
      <p:pic>
        <p:nvPicPr>
          <p:cNvPr id="6" name="Picture 5" descr="codex-prom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325880"/>
            <a:ext cx="6949440" cy="1791411"/>
          </a:xfrm>
          <a:prstGeom prst="roundRect">
            <a:avLst>
              <a:gd name="adj" fmla="val 7146"/>
            </a:avLst>
          </a:prstGeom>
        </p:spPr>
      </p:pic>
      <p:sp>
        <p:nvSpPr>
          <p:cNvPr id="7" name="TextBox 6"/>
          <p:cNvSpPr txBox="1"/>
          <p:nvPr/>
        </p:nvSpPr>
        <p:spPr>
          <a:xfrm>
            <a:off x="448056" y="32461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Claude Code – системный промпт в режиме bypass / auto, август 2026</a:t>
            </a:r>
          </a:p>
        </p:txBody>
      </p:sp>
      <p:pic>
        <p:nvPicPr>
          <p:cNvPr id="8" name="Picture 7" descr="claude-code-bypass-iss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" y="3520440"/>
            <a:ext cx="6949440" cy="1394125"/>
          </a:xfrm>
          <a:prstGeom prst="roundRect">
            <a:avLst>
              <a:gd name="adj" fmla="val 9182"/>
            </a:avLst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Почему агенты правят текстом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агентов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5156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Форум Cursor, июль 2026 – ответы сотрудников Cursor</a:t>
            </a:r>
          </a:p>
        </p:txBody>
      </p:sp>
      <p:pic>
        <p:nvPicPr>
          <p:cNvPr id="6" name="Picture 5" descr="cursor-forum-col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325880"/>
            <a:ext cx="8229600" cy="1878037"/>
          </a:xfrm>
          <a:prstGeom prst="roundRect">
            <a:avLst>
              <a:gd name="adj" fmla="val 6816"/>
            </a:avLst>
          </a:prstGeom>
        </p:spPr>
      </p:pic>
      <p:pic>
        <p:nvPicPr>
          <p:cNvPr id="7" name="Picture 6" descr="cursor-forum-maxim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" y="3337560"/>
            <a:ext cx="8229600" cy="1343465"/>
          </a:xfrm>
          <a:prstGeom prst="roundRect">
            <a:avLst>
              <a:gd name="adj" fmla="val 9528"/>
            </a:avLst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Почему агенты правят текстом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агентов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51560"/>
            <a:ext cx="822960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Документация Serena – MCP-сервера с инструментами LSP для агентов, пост опубликован в октября 2026</a:t>
            </a:r>
          </a:p>
        </p:txBody>
      </p:sp>
      <p:pic>
        <p:nvPicPr>
          <p:cNvPr id="6" name="Picture 5" descr="serena-docs-att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389888"/>
            <a:ext cx="5197375" cy="3429000"/>
          </a:xfrm>
          <a:prstGeom prst="roundRect">
            <a:avLst>
              <a:gd name="adj" fmla="val 3733"/>
            </a:avLst>
          </a:prstGeom>
        </p:spPr>
      </p:pic>
      <p:sp>
        <p:nvSpPr>
          <p:cNvPr id="7" name="Rounded Rectangle 6"/>
          <p:cNvSpPr/>
          <p:nvPr/>
        </p:nvSpPr>
        <p:spPr>
          <a:xfrm>
            <a:off x="5852160" y="1389888"/>
            <a:ext cx="2834640" cy="3429000"/>
          </a:xfrm>
          <a:prstGeom prst="roundRect">
            <a:avLst>
              <a:gd name="adj" fmla="val 451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«Описания встроенных инструментов Claude Code – почти 16k токенов; пользователь их не меняет»</a:t>
            </a:r>
          </a:p>
          <a:p>
            <a:pPr algn="l">
              <a:spcAft>
                <a:spcPts val="10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«Почти невозможно убедить Opus 4.7 пользоваться Serena»</a:t>
            </a:r>
          </a:p>
          <a:p>
            <a:pPr algn="l">
              <a:spcAft>
                <a:spcPts val="10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Авторы дают отдельный системный промпт против этого смещения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Почему агенты правят текстом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моделей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600" b="1" i="0" lang="ru-RU">
                <a:solidFill>
                  <a:srgbClr val="F6C26B"/>
                </a:solidFill>
                <a:latin typeface="Golos Text"/>
              </a:rPr>
              <a:t>TODO: бенчмарк по моделям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300" b="1" i="0" lang="ru-RU">
                <a:solidFill>
                  <a:srgbClr val="C9B8FF"/>
                </a:solidFill>
                <a:latin typeface="Golos Text"/>
              </a:rPr>
              <a:t>Пилот AgentConnect, август 2026</a:t>
            </a:r>
          </a:p>
          <a:p>
            <a:pPr algn="l">
              <a:spcAft>
                <a:spcPts val="8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Модели Claude, LSP доступен как инструмент: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выбирали LSP в 0–6 % задач на поиск места в коде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в 3 % задач на переименование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принудительный LSP снизил долю успешных задач со 100 % до 89 %</a:t>
            </a:r>
          </a:p>
          <a:p>
            <a:pPr algn="l">
              <a:spcAft>
                <a:spcPts val="800"/>
              </a:spcAft>
            </a:pPr>
            <a:r>
              <a:rPr sz="1050" b="0" i="0" lang="ru-RU">
                <a:solidFill>
                  <a:srgbClr val="B8B8C8"/>
                </a:solidFill>
                <a:latin typeface="Golos Text"/>
              </a:rPr>
              <a:t>agentconnect.md/blog/grep-beat-lsp-harness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Почему агенты правят текстом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Готовые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MCP (Model Context Protocol) – протокол общения LLM с инструментами. MCP-сервер – сервер, отвечающий на запросы LLM по MCP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828800"/>
            <a:ext cx="4023360" cy="2834640"/>
          </a:xfrm>
          <a:prstGeom prst="roundRect">
            <a:avLst>
              <a:gd name="adj" fmla="val 451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ВСТРОЕННЫЙ MCP-СЕРВЕР INTELLIJ IDEA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Встроен с версии 2025.2; сервер включается в настройках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Из рефакторингов – один инструмент: rename_refactoring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Параметры: путь в проекте, имя символа, новое имя – на перегрузках неоднозначно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Move и Safe Delete отсутствуют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828800"/>
            <a:ext cx="4023360" cy="2834640"/>
          </a:xfrm>
          <a:prstGeom prst="roundRect">
            <a:avLst>
              <a:gd name="adj" fmla="val 451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VEAI MCP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Инструменты рефакторинга IntelliJ, доступные агенту по MCP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Rename – переименование символа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Move – перенос символа в другой файл или пакет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Safe Delete – удаление с проверкой использований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Почему агенты правят текстом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Советы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Что выбрать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2011680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B8B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600" b="1" i="0" lang="ru-RU">
                <a:solidFill>
                  <a:srgbClr val="FFFFFF"/>
                </a:solidFill>
                <a:latin typeface="Golos Text"/>
              </a:rPr>
              <a:t>Текст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1280160"/>
            <a:ext cx="6080760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B8B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Нет IDE: CI, скрипты, конфиги, чужая машина. Одно имя – одна функция, мест немного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377439"/>
            <a:ext cx="2011680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600" b="1" i="0" lang="ru-RU">
                <a:solidFill>
                  <a:srgbClr val="FFFFFF"/>
                </a:solidFill>
                <a:latin typeface="Golos Text"/>
              </a:rPr>
              <a:t>LSP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40" y="2377439"/>
            <a:ext cx="6080760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Один язык, есть сервер. Нужны все использования и переименование; остальное – текстом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" y="3474720"/>
            <a:ext cx="2011680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600" b="1" i="0" lang="ru-RU">
                <a:solidFill>
                  <a:srgbClr val="FFFFFF"/>
                </a:solidFill>
                <a:latin typeface="Golos Text"/>
              </a:rPr>
              <a:t>Движок IDE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6040" y="3474720"/>
            <a:ext cx="6080760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Есть IDE и индексы. Несколько языков, одноимённые функции, сотни мест – нужны гарантии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0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Советы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554480"/>
            <a:ext cx="4023360" cy="2011680"/>
          </a:xfrm>
          <a:prstGeom prst="roundRect">
            <a:avLst>
              <a:gd name="adj" fmla="val 636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Рефакторинг – отдельным коммитом</a:t>
            </a:r>
          </a:p>
          <a:p>
            <a:pPr algn="l">
              <a:spcAft>
                <a:spcPts val="10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Отдельно от изменения поведения. Ревью читаемо, откат возможен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554480"/>
            <a:ext cx="4023360" cy="2011680"/>
          </a:xfrm>
          <a:prstGeom prst="roundRect">
            <a:avLst>
              <a:gd name="adj" fmla="val 636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Автоматическая проверка – обязательна</a:t>
            </a:r>
          </a:p>
          <a:p>
            <a:pPr algn="l">
              <a:spcAft>
                <a:spcPts val="10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Тесты, компиляция, линтер. В кейсе сборка была зелёной при изменённом поведении – хелперы тестами не покрыты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Главные мысли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2606040" cy="2743200"/>
          </a:xfrm>
          <a:prstGeom prst="roundRect">
            <a:avLst>
              <a:gd name="adj" fmla="val 4912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 lang="ru-RU">
                <a:solidFill>
                  <a:srgbClr val="9066FF"/>
                </a:solidFill>
                <a:latin typeface="Golos Text"/>
              </a:rPr>
              <a:t>1</a:t>
            </a:r>
          </a:p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Golos Text"/>
              </a:rPr>
              <a:t>Полнота при поиске, корректность при применении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4408" y="1325880"/>
            <a:ext cx="2606040" cy="2743200"/>
          </a:xfrm>
          <a:prstGeom prst="roundRect">
            <a:avLst>
              <a:gd name="adj" fmla="val 4912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 lang="ru-RU">
                <a:solidFill>
                  <a:srgbClr val="9066FF"/>
                </a:solidFill>
                <a:latin typeface="Golos Text"/>
              </a:rPr>
              <a:t>2</a:t>
            </a:r>
          </a:p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Дело в инструментах, не в модели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Golos Text"/>
              </a:rPr>
              <a:t>Та же модель с grep и с движком – разный результат и разная цена. Считайте ходы, время и токены, а не только зелёные тесты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325880"/>
            <a:ext cx="2606040" cy="2743200"/>
          </a:xfrm>
          <a:prstGeom prst="roundRect">
            <a:avLst>
              <a:gd name="adj" fmla="val 4912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 lang="ru-RU">
                <a:solidFill>
                  <a:srgbClr val="9066FF"/>
                </a:solidFill>
                <a:latin typeface="Golos Text"/>
              </a:rPr>
              <a:t>3</a:t>
            </a:r>
          </a:p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Инструмент рефакторинга уже есть – в IDE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Golos Text"/>
              </a:rPr>
              <a:t>Полнота, конфликты до правки, атомарность. Модель решает «что», движок делает «как». Отдайте его агенту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630936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800" b="0" i="0" lang="ru-RU">
                <a:solidFill>
                  <a:srgbClr val="FFFFFF"/>
                </a:solidFill>
                <a:latin typeface="Golos Text"/>
              </a:rPr>
              <a:t>Спасибо</a:t>
            </a:r>
          </a:p>
          <a:p>
            <a:pPr algn="l"/>
            <a:r>
              <a:rPr sz="4800" b="0" i="0" lang="ru-RU">
                <a:solidFill>
                  <a:srgbClr val="FFFFFF"/>
                </a:solidFill>
                <a:latin typeface="Golos Text"/>
              </a:rPr>
              <a:t>за внимание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657600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 lang="ru-RU">
                <a:solidFill>
                  <a:srgbClr val="C9B8FF"/>
                </a:solidFill>
                <a:latin typeface="Golos Text"/>
              </a:rPr>
              <a:t>Вопросы?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7448" y="4014215"/>
            <a:ext cx="4041648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 lang="ru-RU">
                <a:solidFill>
                  <a:srgbClr val="FFFFFF"/>
                </a:solidFill>
                <a:latin typeface="Golos Text"/>
              </a:rPr>
              <a:t>Попробовать агента: veai.ru</a:t>
            </a:r>
          </a:p>
          <a:p>
            <a:pPr algn="l"/>
            <a:r>
              <a:rPr sz="1300" b="1" i="0" lang="ru-RU">
                <a:solidFill>
                  <a:srgbClr val="FFFFFF"/>
                </a:solidFill>
                <a:latin typeface="Golos Text"/>
              </a:rPr>
              <a:t>Telegram-канал: @veai_devs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1145</TotalTime>
  <Words>1924</Words>
  <Application>Microsoft Macintosh PowerPoint</Application>
  <PresentationFormat>Экран (16:9)</PresentationFormat>
  <Paragraphs>381</Paragraphs>
  <Slides>30</Slides>
  <Notes>28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30</vt:i4>
      </vt:variant>
    </vt:vector>
  </HeadingPairs>
  <TitlesOfParts>
    <vt:vector size="41" baseType="lpstr">
      <vt:lpstr>Arial</vt:lpstr>
      <vt:lpstr>Golos Text Medium</vt:lpstr>
      <vt:lpstr>Calibri</vt:lpstr>
      <vt:lpstr>Archivo SemiBold</vt:lpstr>
      <vt:lpstr>Golos Text SemiBold</vt:lpstr>
      <vt:lpstr>Golos Text</vt:lpstr>
      <vt:lpstr>Archivo Light</vt:lpstr>
      <vt:lpstr>Archivo</vt:lpstr>
      <vt:lpstr>Simple Light</vt:lpstr>
      <vt:lpstr>Business Plan Presentation</vt:lpstr>
      <vt:lpstr>Business Plan Presentation</vt:lpstr>
      <vt:lpstr>Вебинар скоро начнется</vt:lpstr>
      <vt:lpstr>Работа с ИИ инструментами на уровне пользователя</vt:lpstr>
      <vt:lpstr>04</vt:lpstr>
      <vt:lpstr>Напоминание: ключевые термины</vt:lpstr>
      <vt:lpstr>Методология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Подходы</vt:lpstr>
      <vt:lpstr>Specification-Driven Development (SDD)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Обратная связь (feedback loops)</vt:lpstr>
      <vt:lpstr>Обратная связь (feedback loops)</vt:lpstr>
      <vt:lpstr>Презентация PowerPoint</vt:lpstr>
      <vt:lpstr>Параллельная работа и субагенты</vt:lpstr>
      <vt:lpstr>Субагенты (subagents)</vt:lpstr>
      <vt:lpstr>Презентация PowerPoint</vt:lpstr>
      <vt:lpstr>Параллельная работа: git worktrees</vt:lpstr>
      <vt:lpstr>Личная настройка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Microsoft Office User</cp:lastModifiedBy>
  <cp:revision>11</cp:revision>
  <dcterms:modified xsi:type="dcterms:W3CDTF">2026-07-15T17:14:21Z</dcterms:modified>
</cp:coreProperties>
</file>