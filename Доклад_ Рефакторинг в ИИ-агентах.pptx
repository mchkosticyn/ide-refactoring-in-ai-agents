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  <p:sldId id="290" r:id="rId61"/>
    <p:sldId id="291" r:id="rId62"/>
    <p:sldId id="292" r:id="rId63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Каждый проход дальше разбираем одинаково: найдены ли все места, только ли нужные правки, сохранено ли поведение – и цена: время, стоимость, ходы, токены, стартовый контекст.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Ловушки не называем – всплывут в разборах. Тестовый DSL вашего проекта устроен так же: пара хелперов, сотни вызовов, правило на дисциплине.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в занятое имя – IDE останавливает и показывает конфликт. Это то, что будем искать у агентов.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правильно выбрал порядок: сначала старые lint, потом rename; двойник в другом модуле обошёл. Промах – там, где имя не выглядит как вызов метода. Инструменты агента – поиск по тексту и правка текста.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Вывод: промах без сигнала, сборка зелёная, 53 хода и $4 – нужен инструмент, который видит символы, а не строки.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инструкция агента, а не выбор модели: та же модель в другом агенте инструменты вызывает. Единственный инструмент правки у терминальных агентов – замена строки или патч.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Перед видео – одна фраза: LSP – сервер, который резолвит символы языка; агент спрашивает его, где символ используется, и просит переименовать.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отказал в нашем прогоне – лучше, чем применить без предупреждения. Но это выбор сервера, а не правило протокола, и продолжить после отказа нечем.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Уровень протокола. Что сервер делает внутри ограничений – своё у каждого: clangd и gopls отказывают, rust-analyzer помечает правку, Kotlin LSP отказал нам. Вывод: символы видит, оба вызова без точки нашёл; но операция одна, конфликт как повезёт, один язык. Нужен движок.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решает, что переименовать и как поступить с конфликтом; движок ищет ссылки, проверяет конфликт, применяет. Рассматриваем только IntelliJ.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гарантии – далее по слайду на каждую. Архитектурные изменения – не рефакторинг в смысле движка; это оговорка, не минус.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для метода: копия выражения-вызова, новое имя, повторный резолв. На кейсе – конфликт объявления.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текстом: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 текста нет символа; у LSP символ есть, но только rename, один язык и конфликты как повезёт; у движка – модель проекта и проверка до правки. Ниша текста – некомпилирующийся код и нулевая цена входа. Строка контекста – ответ на «сколько стоят описания инструментов».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Семь лет в разработке, значительная часть – статический анализ программ и формальная верификация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 2023 года – разработка ИИ-агентов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0440"/>
            <a:ext cx="8229600" cy="8229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300" b="0" i="0">
                <a:solidFill>
                  <a:srgbClr val="F6C26B"/>
                </a:solidFill>
                <a:latin typeface="Golos Text"/>
              </a:rPr>
              <a:t>Эксперт доклада: TODO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7827264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749039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Подзадача 1: найти все места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Нужна полнота. 97 % не годится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C9B8FF"/>
                </a:solidFill>
                <a:latin typeface="Golos Text"/>
              </a:rPr>
              <a:t>78 вызовов × 97 %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286000"/>
            <a:ext cx="3749039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Подзадача 2: применить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Нужна корректность: правка не меняет, к какому методу привязан вызов, и не задевает чужое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Зачем это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19659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Миграция фреймворка: Selenium → Playwright, JUnit 4 → 5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Наведение структуры: PageObject, композиция фикстур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Смена тестового API проекта: хелперы, базовые классы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429000"/>
            <a:ext cx="8229600" cy="7772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Сотни мест. Зелёные тесты не доказывают, что поведение то же: меняется сам тестовый код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Кейс: detekt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9728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B8B8C8"/>
                </a:solidFill>
                <a:latin typeface="Golos Text"/>
              </a:rPr>
              <a:t>detekt – статический анализатор Kotlin. У него есть тестовая библиотека, которой авторы правил пишут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54480"/>
            <a:ext cx="8229600" cy="1188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C9B8FF"/>
                </a:solidFill>
                <a:latin typeface="Menlo"/>
              </a:rPr>
              <a:t>fun Rule.compileAndLint(code)  // компилирует сниппет (в CI), потом проверяет</a:t>
            </a:r>
          </a:p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C9B8FF"/>
                </a:solidFill>
                <a:latin typeface="Menlo"/>
              </a:rPr>
              <a:t>fun Rule.lint(code)            // только проверяет: сниппет может не компилироваться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93776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ЗАДАЧА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Golos Text"/>
              </a:rPr>
              <a:t>Оставить одну функцию: lint(code, compile = true)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compileAndLint(code) → lint(code)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старый lint(code) → lint(code, compile = false), чтобы тесты работали как раньше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B8B8C8"/>
                </a:solidFill>
                <a:latin typeface="Golos Text"/>
              </a:rPr>
              <a:t>PR #7873, февраль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80360"/>
            <a:ext cx="31546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МАСШТАБ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1428 вызовов compileAndLint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9B8FF"/>
                </a:solidFill>
                <a:latin typeface="Golos Text"/>
              </a:rPr>
              <a:t>78 старых lint – им нужен compile = false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B8B8C8"/>
                </a:solidFill>
                <a:latin typeface="Golos Text"/>
              </a:rPr>
              <a:t>Не трогать: перегрузка lint(ktFile) – 36; FormattingRule.lint – 66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IDE: IntelliJ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87782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203704"/>
            <a:ext cx="2651760" cy="250545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Change Signature на старом lint: параметр compile, в вызовах – false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Rename compileAndLint → lint: конфликт «функция 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Слить тела вручную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150">
                <a:solidFill>
                  <a:srgbClr val="FFFFFF"/>
                </a:solidFill>
                <a:latin typeface="Golos Text"/>
              </a:rPr>
              <a:t>  Все 78 вызовов старого lint, включая два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150">
                <a:solidFill>
                  <a:srgbClr val="FFFFFF"/>
                </a:solidFill>
                <a:latin typeface="Golos Text"/>
              </a:rPr>
              <a:t>  FormattingRule.lint и lint(ktFile) не тронуты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150">
                <a:solidFill>
                  <a:srgbClr val="FFFFFF"/>
                </a:solidFill>
                <a:latin typeface="Golos Text"/>
              </a:rPr>
              <a:t>  Конфликт показан до применения; compile = false подставлен явно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402793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≈ 30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7428" y="3749039"/>
            <a:ext cx="402793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≈ $30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46634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00" b="0" i="0">
                <a:solidFill>
                  <a:srgbClr val="B8B8C8"/>
                </a:solidFill>
                <a:latin typeface="Golos Text"/>
              </a:rPr>
              <a:t>Два коммита автора PR за 20 минут, 3 января 2025; ставка $60/ч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ИИ-агент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ИИ-агент = модель + контекст + инструменты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Агент работает с кодом как с текстом: символов для него не существует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Инструмент «правка фрагмента» – удалить / добавить / заменить;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Агент: Claude Code · Модель: Claude Opus (TODO версия)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Время: 13,7 мин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Стоимость: $4.41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Ходы: 53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Токены: 3,9M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grep по имени функции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Чтение файлов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sed / скрипт по файлам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Точечные правки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5.  Отчёт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150">
                <a:solidFill>
                  <a:srgbClr val="FFFFFF"/>
                </a:solidFill>
                <a:latin typeface="Golos Text"/>
              </a:rPr>
              <a:t>  2 из 78 вызовов пропущены: lint("fun f() { $code }") внутри extension-функции – вызов без точки; агент искал «.lint(»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150">
                <a:solidFill>
                  <a:srgbClr val="FFFFFF"/>
                </a:solidFill>
                <a:latin typeface="Golos Text"/>
              </a:rPr>
              <a:t>  Комментарий «not compileAndLint for performance reasons» стал «not lint for performance reasons»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150">
                <a:solidFill>
                  <a:srgbClr val="FFFFFF"/>
                </a:solidFill>
                <a:latin typeface="Golos Text"/>
              </a:rPr>
              <a:t>  Два хелпера начали компилировать сотни сниппетов. Сборка зелёная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Нулевая цена входа: без индекса и IDE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Работает на некомпилирующемся коде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Имя ≠ символ: одноимённая FormattingRule.lint, комментарий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Символ ≠ имя: вызов без точки, неявный receiver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Правка не проверяет, что меняет; N мест – N операций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8229600" cy="17373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9B8FF"/>
                </a:solidFill>
                <a:latin typeface="Menlo"/>
              </a:rPr>
              <a:t>grep -rn '\.lint('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enlo"/>
              </a:rPr>
              <a:t>  → 180 строк: Rule.lint, FormattingRule.lint, lint(ktFile) – вперемешку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EA9999"/>
                </a:solidFill>
                <a:latin typeface="Menlo"/>
              </a:rPr>
              <a:t>  lint("fun f() { $code }")  – не найден (вызов без точки)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29184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Подстрока ≠ символ: пропуски и ложные попадания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29184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Правка не знает, что меняет. «Прошло» не значит «заменило правильно»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8229600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C9B8FF"/>
                </a:solidFill>
                <a:latin typeface="Golos Text"/>
              </a:rPr>
              <a:t>Codex CLI – системный промпт</a:t>
            </a:r>
          </a:p>
          <a:p>
            <a:pPr algn="l"/>
            <a:r>
              <a:rPr sz="1050" b="0" i="1">
                <a:solidFill>
                  <a:srgbClr val="FFFFFF"/>
                </a:solidFill>
                <a:latin typeface="Golos Text"/>
              </a:rPr>
              <a:t>«prefer using rg … Do not use apply_patch … when scripting is more efficient (such as search and replacing a string across a codebase)»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92808"/>
            <a:ext cx="8229600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C9B8FF"/>
                </a:solidFill>
                <a:latin typeface="Golos Text"/>
              </a:rPr>
              <a:t>Claude Code – режим bypass / auto</a:t>
            </a:r>
          </a:p>
          <a:p>
            <a:pPr algn="l"/>
            <a:r>
              <a:rPr sz="1050" b="0" i="1">
                <a:solidFill>
                  <a:srgbClr val="FFFFFF"/>
                </a:solidFill>
                <a:latin typeface="Golos Text"/>
              </a:rPr>
              <a:t>«make file changes with sed, heredocs, or short scripts, rather than using the dedicated Read, Edit, or Write tools»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596896"/>
            <a:ext cx="8229600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C9B8FF"/>
                </a:solidFill>
                <a:latin typeface="Golos Text"/>
              </a:rPr>
              <a:t>Claude Code – документация</a:t>
            </a:r>
          </a:p>
          <a:p>
            <a:pPr algn="l"/>
            <a:r>
              <a:rPr sz="1050" b="0" i="1">
                <a:solidFill>
                  <a:srgbClr val="FFFFFF"/>
                </a:solidFill>
                <a:latin typeface="Golos Text"/>
              </a:rPr>
              <a:t>«leaves Glob and Grep out of the default tool set, and Claude searches with find and grep through the Bash tool instead»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" y="3300984"/>
            <a:ext cx="8229600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C9B8FF"/>
                </a:solidFill>
                <a:latin typeface="Golos Text"/>
              </a:rPr>
              <a:t>OpenCode – инструмент Edit</a:t>
            </a:r>
          </a:p>
          <a:p>
            <a:pPr algn="l"/>
            <a:r>
              <a:rPr sz="1050" b="0" i="1">
                <a:solidFill>
                  <a:srgbClr val="FFFFFF"/>
                </a:solidFill>
                <a:latin typeface="Golos Text"/>
              </a:rPr>
              <a:t>«Use replaceAll … if you want to rename a variable»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" y="4005072"/>
            <a:ext cx="8229600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C9B8FF"/>
                </a:solidFill>
                <a:latin typeface="Golos Text"/>
              </a:rPr>
              <a:t>Serena (LSP-инструменты для агентов) – README</a:t>
            </a:r>
          </a:p>
          <a:p>
            <a:pPr algn="l"/>
            <a:r>
              <a:rPr sz="1050" b="0" i="1">
                <a:solidFill>
                  <a:srgbClr val="FFFFFF"/>
                </a:solidFill>
                <a:latin typeface="Golos Text"/>
              </a:rPr>
              <a:t>«The descriptions of CC's system tools take almost 16k tokens, cannot be adjusted by the user, and introduce a very strong bias towards internal tools, making it almost impossible to convince Opus 4.7 to use Serena»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Bias моделей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>
                <a:solidFill>
                  <a:srgbClr val="F6C26B"/>
                </a:solidFill>
                <a:latin typeface="Golos Text"/>
              </a:rPr>
              <a:t>TODO: бенчмарк по моделям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Veai 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463040"/>
            <a:ext cx="8229600" cy="2194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ИИ-агент для разработчиков, работает внутри IDE JetBrains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Инструменты – те же, что у IDE: поиск по символам, рефакторинги, диагностика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LSP (Language Server Protocol) – протокол между редактором или агентом и сервером языка: отдельный процесс резолвит символы, клиент спрашивает его по стандарту. Один протокол, один сервер на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Клиент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редактор 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резолвит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91840"/>
            <a:ext cx="7827264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Серверы есть для всех основных языков: rust-analyzer, gopls, pyright, Kotlin LSP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Агент: Veai (LSP вкл, рефакторинг выкл)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Запрос references по символу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Список мест от сервера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Правки текстом по списку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Rename по протоколу – если использует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150">
                <a:solidFill>
                  <a:srgbClr val="FFFFFF"/>
                </a:solidFill>
                <a:latin typeface="Golos Text"/>
              </a:rPr>
              <a:t>  references на старом lint – 99 ссылок, включая оба вызова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Поиск по символу, а не по подстроке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Сервер есть для любого основного языка; IDE не нужна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Из рефакторингов – только переименование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Сервер не знает, что уже изменилось; когда индекс актуален – неизвестно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Конфликты – на усмотрение сервера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Ограничения протокола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Из рефакторингов – только переименование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Перенос, смена сигнатуры, удаление – в протоколе нет; передать им параметры нечем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2588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Сервер не знает, что уже изменилось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Правки агента сервер видит только после уведомления клиента; когда индекс актуален – неизвестно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Ссылки из другого языка и из конфигурации не видны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880360"/>
            <a:ext cx="4023360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Конфликты – на усмотрение сервера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Ошибка строкой, применение без предупреждения или пометка на правке. «Продолжить всё равно» нет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8229600" cy="5029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 решает «что», детерминированный инструмент – «как»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8288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Код представлен не текстом, а графом символов: символ – узел, ссылка – ребро к объявлению. «Все использования» – обход ссылок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532888"/>
            <a:ext cx="4023360" cy="149047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КАК ВИДИТ GREP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C9B8FF"/>
                </a:solidFill>
                <a:latin typeface="Menlo"/>
              </a:rPr>
              <a:t>grep '\.lint('  → 180 строк: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rule.lint(code)      Rule.lint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subject.lint(code)   FormattingRule.lint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enlo"/>
              </a:rPr>
              <a:t>  rule.lint(ktFile)    перегрузка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EA9999"/>
                </a:solidFill>
                <a:latin typeface="Menlo"/>
              </a:rPr>
              <a:t>  lint("fun f() …")   – не видно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532888"/>
            <a:ext cx="4023360" cy="149047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Rule.lint(content)   99 ссылок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  в т. ч. 2 без точки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B8B8C8"/>
                </a:solidFill>
                <a:latin typeface="Menlo"/>
              </a:rPr>
              <a:t>Rule.lint(ktFile)  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B8B8C8"/>
                </a:solidFill>
                <a:latin typeface="Menlo"/>
              </a:rPr>
              <a:t>FormattingRule.lint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93C47D"/>
                </a:solidFill>
                <a:latin typeface="Menlo"/>
              </a:rPr>
              <a:t>Rule.compileAndLint  1558 ссылок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261104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Агент: Veai (рефакторинг вкл, LSP выкл)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1.  Change Signature: параметр compile, false в вызовах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2.  Rename: конфликт «уже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3.  Решение по конфликту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4.  Применение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>
                <a:solidFill>
                  <a:srgbClr val="F6C26B"/>
                </a:solidFill>
                <a:latin typeface="Golos Text"/>
              </a:rPr>
              <a:t>◐</a:t>
            </a:r>
            <a:r>
              <a:rPr sz="1150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>
              <a:spcAft>
                <a:spcPts val="12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Находит все ссылки, включая другие языки и конфигурацию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Конфликты до правки</a:t>
            </a:r>
          </a:p>
          <a:p>
            <a:pPr algn="l">
              <a:spcAft>
                <a:spcPts val="12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Проверяет резолв после правки; список конфликтов до применения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Атомарность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Либо всё, либо ничего. Один откат на всю операцию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nlo"/>
              </a:rPr>
              <a:t>Rule.lint(content)</a:t>
            </a:r>
          </a:p>
          <a:p>
            <a:pPr algn="ctr"/>
            <a:r>
              <a:rPr sz="950" b="0" i="0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rule.lint(code)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lint("fun f() …") – без точки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19456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Menlo"/>
              </a:rPr>
              <a:t>import …test.lint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ОГРАНИЧЕНИЕ (JVM)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Проверки «имя занято» недостаточно – движок проверяет правку до применения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оригинал не трогаем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ДО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enlo"/>
              </a:rPr>
              <a:t>rule.compileAndLint(code)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93C47D"/>
                </a:solidFill>
                <a:latin typeface="Menlo"/>
              </a:rPr>
              <a:t>rule.lint(code)  – другая функция, без компиляции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ПОСЛЕ RENAME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enlo"/>
              </a:rPr>
              <a:t>rule.lint(code)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EA9999"/>
                </a:solidFill>
                <a:latin typeface="Menlo"/>
              </a:rPr>
              <a:t>rule.lint(code)  – неразличимы; 78 вызовов меняют смысл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520440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434840"/>
            <a:ext cx="782726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C9B8FF"/>
                </a:solidFill>
                <a:latin typeface="Golos Text"/>
              </a:rPr>
              <a:t>Конфликт «функция lint уже объявлена» – показан до применения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Одна команда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C9B8FF"/>
                </a:solidFill>
                <a:latin typeface="Golos Text"/>
              </a:rPr>
              <a:t>Как транзакция в БД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Один откат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C9B8FF"/>
                </a:solidFill>
                <a:latin typeface="Golos Text"/>
              </a:rPr>
              <a:t>Не бывает «переименовано в 130 файлах из 133»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Человек в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565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0136" y="123444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3176" y="123444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8056" y="1691640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65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0136" y="1691640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23176" y="1691640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2121408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17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565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0136" y="2121408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3176" y="212140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551176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0565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0136" y="2551176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6" y="2551176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" y="2980944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" y="2980944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0565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0136" y="2980944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3176" y="2980944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3410712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0565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0136" y="3410712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410712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3840479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117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3 операции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0565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0136" y="3840479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23176" y="3840479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" y="4270248"/>
            <a:ext cx="210312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117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0565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0136" y="4270248"/>
            <a:ext cx="146304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23176" y="4270248"/>
            <a:ext cx="1554480" cy="4297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Встроен и включён по умолчанию с версии 2025.2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Из рефакторингов – один инструмент: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 – на перегрузках неоднозначно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Extract Method, Change Signature, Inline –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Инструменты рефакторинга IntelliJ, доступные агенту по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Rename – переименование символа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Move – перенос символа в другой файл или пакет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Safe Delete – удаление с проверкой использований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>
                <a:solidFill>
                  <a:srgbClr val="93C47D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Автоматическая проверка – обязательна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Тесты, компиляция, линтер. В кейсе сборка была зелёной при изменённом поведении – хелперы тестами не покрыты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Полнота при поиске, корректность при применении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Дело в инструментах, не в модели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Та же модель с grep и с движком – разный результат и разная цена. Считайте ходы, время и токены, а не только зелёные тесты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9066FF"/>
                </a:solidFill>
                <a:latin typeface="Golos Tex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Инструмент рефакторинга уже есть – в IDE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Полнота, конфликты до правки, атомарность. Модель решает «что», движок делает «как». Отдайте его агенту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